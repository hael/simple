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F318F5-8558-4B5E-925C-8C1A409D70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4F7FA"/>
          </a:solidFill>
          <a:ln w="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21218B-08F8-4A27-BFDC-AF0904DF010D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97132"/>
                </a:solidFill>
              </a:defRPr>
            </a:pPr>
            <a:r>
              <a:rPr sz="1050" b="1" i="0">
                <a:solidFill>
                  <a:srgbClr val="E97132"/>
                </a:solidFill>
              </a:rPr>
              <a:t>SIMPLE abinitio3D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0E8349-7DE1-4531-9E82-342FE111FB43}"/>
              </a:ext>
            </a:extLst>
          </p:cNvPr>
          <p:cNvSpPr>
            <a:spLocks noGrp="1"/>
          </p:cNvSpPr>
          <p:nvPr/>
        </p:nvSpPr>
        <p:spPr>
          <a:xfrm>
            <a:off x="514350" y="1714500"/>
            <a:ext cx="857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800" b="1" i="0">
                <a:solidFill>
                  <a:srgbClr val="0E2841"/>
                </a:solidFill>
              </a:defRPr>
            </a:pPr>
            <a:r>
              <a:rPr sz="4800" b="1" i="0">
                <a:solidFill>
                  <a:srgbClr val="0E2841"/>
                </a:solidFill>
              </a:rPr>
              <a:t>Workflow 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B6C16B-CBEB-4CA8-B452-EAEA86D3FBAB}"/>
              </a:ext>
            </a:extLst>
          </p:cNvPr>
          <p:cNvSpPr>
            <a:spLocks noGrp="1"/>
          </p:cNvSpPr>
          <p:nvPr/>
        </p:nvSpPr>
        <p:spPr>
          <a:xfrm>
            <a:off x="552450" y="4400550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 i="0">
                <a:solidFill>
                  <a:srgbClr val="23384E"/>
                </a:solidFill>
              </a:defRPr>
            </a:pPr>
            <a:r>
              <a:rPr sz="1800" b="0" i="0" dirty="0">
                <a:solidFill>
                  <a:srgbClr val="23384E"/>
                </a:solidFill>
              </a:rPr>
              <a:t>How the staged controller drives optimization, sampling, filtering, and volume updates during initial 3D reconstruction.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EC8CEB8-DA9F-4056-9DF4-53FDF772569C}"/>
              </a:ext>
            </a:extLst>
          </p:cNvPr>
          <p:cNvSpPr>
            <a:spLocks noGrp="1"/>
          </p:cNvSpPr>
          <p:nvPr/>
        </p:nvSpPr>
        <p:spPr>
          <a:xfrm>
            <a:off x="7810500" y="1676400"/>
            <a:ext cx="3333750" cy="25527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F2B27F-F3DA-4A07-9680-AC86D73DB93D}"/>
              </a:ext>
            </a:extLst>
          </p:cNvPr>
          <p:cNvSpPr>
            <a:spLocks noGrp="1"/>
          </p:cNvSpPr>
          <p:nvPr/>
        </p:nvSpPr>
        <p:spPr>
          <a:xfrm>
            <a:off x="7810500" y="1676400"/>
            <a:ext cx="76200" cy="255270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9014A6-93C4-4916-A31B-2A734AE2DB6F}"/>
              </a:ext>
            </a:extLst>
          </p:cNvPr>
          <p:cNvSpPr>
            <a:spLocks noGrp="1"/>
          </p:cNvSpPr>
          <p:nvPr/>
        </p:nvSpPr>
        <p:spPr>
          <a:xfrm>
            <a:off x="8020050" y="1847850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Regression-sensitive point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3931A-DB05-4ACD-8A09-506893867A76}"/>
              </a:ext>
            </a:extLst>
          </p:cNvPr>
          <p:cNvSpPr>
            <a:spLocks noGrp="1"/>
          </p:cNvSpPr>
          <p:nvPr/>
        </p:nvSpPr>
        <p:spPr>
          <a:xfrm>
            <a:off x="8020050" y="2266950"/>
            <a:ext cx="29146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23384E"/>
                </a:solidFill>
              </a:defRPr>
            </a:pPr>
            <a:r>
              <a:rPr sz="1425" b="0" i="0" dirty="0">
                <a:solidFill>
                  <a:srgbClr val="23384E"/>
                </a:solidFill>
              </a:rPr>
              <a:t>The current intended policy is:</a:t>
            </a:r>
          </a:p>
          <a:p>
            <a:endParaRPr sz="1425" b="0" i="0" dirty="0">
              <a:solidFill>
                <a:srgbClr val="23384E"/>
              </a:solidFill>
            </a:endParaRPr>
          </a:p>
          <a:p>
            <a:pPr>
              <a:defRPr sz="1425" b="0" i="0">
                <a:solidFill>
                  <a:srgbClr val="23384E"/>
                </a:solidFill>
              </a:defRPr>
            </a:pPr>
            <a:r>
              <a:rPr sz="1425" b="0" i="0" dirty="0">
                <a:solidFill>
                  <a:srgbClr val="23384E"/>
                </a:solidFill>
              </a:rPr>
              <a:t>stage 1: </a:t>
            </a:r>
            <a:r>
              <a:rPr sz="1425" b="0" i="0" dirty="0" err="1">
                <a:solidFill>
                  <a:srgbClr val="23384E"/>
                </a:solidFill>
              </a:rPr>
              <a:t>prob_neigh</a:t>
            </a:r>
            <a:r>
              <a:rPr sz="1425" b="0" i="0" dirty="0">
                <a:solidFill>
                  <a:srgbClr val="23384E"/>
                </a:solidFill>
              </a:rPr>
              <a:t> / </a:t>
            </a:r>
            <a:r>
              <a:rPr sz="1425" b="0" i="0" dirty="0" err="1">
                <a:solidFill>
                  <a:srgbClr val="23384E"/>
                </a:solidFill>
              </a:rPr>
              <a:t>snhc</a:t>
            </a:r>
            <a:endParaRPr sz="1425" b="0" i="0" dirty="0">
              <a:solidFill>
                <a:srgbClr val="23384E"/>
              </a:solidFill>
            </a:endParaRPr>
          </a:p>
          <a:p>
            <a:pPr>
              <a:defRPr sz="1425" b="0" i="0">
                <a:solidFill>
                  <a:srgbClr val="23384E"/>
                </a:solidFill>
              </a:defRPr>
            </a:pPr>
            <a:r>
              <a:rPr sz="1425" b="0" i="0" dirty="0">
                <a:solidFill>
                  <a:srgbClr val="23384E"/>
                </a:solidFill>
              </a:rPr>
              <a:t>stage 2: </a:t>
            </a:r>
            <a:r>
              <a:rPr sz="1425" b="0" i="0" dirty="0" err="1">
                <a:solidFill>
                  <a:srgbClr val="23384E"/>
                </a:solidFill>
              </a:rPr>
              <a:t>prob_neigh</a:t>
            </a:r>
            <a:r>
              <a:rPr sz="1425" b="0" i="0" dirty="0">
                <a:solidFill>
                  <a:srgbClr val="23384E"/>
                </a:solidFill>
              </a:rPr>
              <a:t> / </a:t>
            </a:r>
            <a:r>
              <a:rPr sz="1425" b="0" i="0" dirty="0" err="1">
                <a:solidFill>
                  <a:srgbClr val="23384E"/>
                </a:solidFill>
              </a:rPr>
              <a:t>shc</a:t>
            </a:r>
            <a:endParaRPr sz="1425" b="0" i="0" dirty="0">
              <a:solidFill>
                <a:srgbClr val="23384E"/>
              </a:solidFill>
            </a:endParaRPr>
          </a:p>
          <a:p>
            <a:pPr>
              <a:defRPr sz="1425" b="0" i="0">
                <a:solidFill>
                  <a:srgbClr val="23384E"/>
                </a:solidFill>
              </a:defRPr>
            </a:pPr>
            <a:r>
              <a:rPr sz="1425" b="0" i="0" dirty="0">
                <a:solidFill>
                  <a:srgbClr val="23384E"/>
                </a:solidFill>
              </a:rPr>
              <a:t>stage 3: prob</a:t>
            </a:r>
          </a:p>
          <a:p>
            <a:pPr>
              <a:defRPr sz="1425" b="0" i="0">
                <a:solidFill>
                  <a:srgbClr val="23384E"/>
                </a:solidFill>
              </a:defRPr>
            </a:pPr>
            <a:r>
              <a:rPr sz="1425" b="0" i="0" dirty="0">
                <a:solidFill>
                  <a:srgbClr val="23384E"/>
                </a:solidFill>
              </a:rPr>
              <a:t>stages 6-8: </a:t>
            </a:r>
            <a:r>
              <a:rPr sz="1425" b="0" i="0" dirty="0" err="1">
                <a:solidFill>
                  <a:srgbClr val="23384E"/>
                </a:solidFill>
              </a:rPr>
              <a:t>prob_neigh</a:t>
            </a:r>
            <a:endParaRPr sz="1425" b="0" i="0" dirty="0">
              <a:solidFill>
                <a:srgbClr val="23384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D048FB-A1CD-46DC-9E06-6503D6E5F850}"/>
              </a:ext>
            </a:extLst>
          </p:cNvPr>
          <p:cNvSpPr>
            <a:spLocks noGrp="1"/>
          </p:cNvSpPr>
          <p:nvPr/>
        </p:nvSpPr>
        <p:spPr>
          <a:xfrm>
            <a:off x="552450" y="59055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5A6A7C"/>
                </a:solidFill>
              </a:defRPr>
            </a:pPr>
            <a:r>
              <a:rPr sz="1050" b="0" i="0">
                <a:solidFill>
                  <a:srgbClr val="5A6A7C"/>
                </a:solidFill>
              </a:rPr>
              <a:t>Source: current abinitio controller and SIMPLE policy docs</a:t>
            </a:r>
          </a:p>
        </p:txBody>
      </p:sp>
    </p:spTree>
    <p:extLst>
      <p:ext uri="{BB962C8B-B14F-4D97-AF65-F5344CB8AC3E}">
        <p14:creationId xmlns:p14="http://schemas.microsoft.com/office/powerpoint/2010/main" val="924761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359C1FD-8399-4FFA-9749-F2BE88912A47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E97132"/>
                </a:solidFill>
              </a:defRPr>
            </a:pPr>
            <a:r>
              <a:rPr sz="900" b="1" i="0">
                <a:solidFill>
                  <a:srgbClr val="E97132"/>
                </a:solidFill>
              </a:rPr>
              <a:t>SIMPLE ABINITIO3D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F93B90-5C5A-4DBA-9BA0-E1A1A74485D4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885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 i="0">
                <a:solidFill>
                  <a:srgbClr val="0E2841"/>
                </a:solidFill>
              </a:defRPr>
            </a:pPr>
            <a:r>
              <a:rPr sz="2700" b="1" i="0">
                <a:solidFill>
                  <a:srgbClr val="0E2841"/>
                </a:solidFill>
              </a:rPr>
              <a:t>Mental model: abinitio3D is a staged refine3D driver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91D4B3-23A6-4E9D-A7D5-A39EC655711A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5A6A7C"/>
                </a:solidFill>
              </a:defRPr>
            </a:pPr>
            <a:r>
              <a:rPr sz="1050" b="1" i="0">
                <a:solidFill>
                  <a:srgbClr val="5A6A7C"/>
                </a:solidFill>
              </a:rPr>
              <a:t>02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262F28D-1FE8-4CEA-B26C-ACE0C2197E4D}"/>
              </a:ext>
            </a:extLst>
          </p:cNvPr>
          <p:cNvSpPr>
            <a:spLocks noGrp="1"/>
          </p:cNvSpPr>
          <p:nvPr/>
        </p:nvSpPr>
        <p:spPr>
          <a:xfrm>
            <a:off x="514350" y="1371600"/>
            <a:ext cx="11163300" cy="0"/>
          </a:xfrm>
          <a:prstGeom prst="line">
            <a:avLst/>
          </a:prstGeom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7C5DC1-0C69-4CE8-ADCF-5BD1F9A2B8D5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5905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 i="0">
                <a:solidFill>
                  <a:srgbClr val="23384E"/>
                </a:solidFill>
              </a:defRPr>
            </a:pPr>
            <a:r>
              <a:rPr sz="1875" b="0" i="0">
                <a:solidFill>
                  <a:srgbClr val="23384E"/>
                </a:solidFill>
              </a:rPr>
              <a:t>abinitio3D does not implement a separate reconstruction engine. It prepares a sequence of child refine3D runs, changes their search and reconstruction policy by stage, and lets the standard matcher and volume assembler do the heavy lifting.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BB1321-C47A-486E-83D7-F4443A426917}"/>
              </a:ext>
            </a:extLst>
          </p:cNvPr>
          <p:cNvSpPr>
            <a:spLocks noGrp="1"/>
          </p:cNvSpPr>
          <p:nvPr/>
        </p:nvSpPr>
        <p:spPr>
          <a:xfrm>
            <a:off x="7029450" y="1695450"/>
            <a:ext cx="3905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DEA8D91-6A86-4B27-B066-CC742EB43DE7}"/>
              </a:ext>
            </a:extLst>
          </p:cNvPr>
          <p:cNvSpPr>
            <a:spLocks noGrp="1"/>
          </p:cNvSpPr>
          <p:nvPr/>
        </p:nvSpPr>
        <p:spPr>
          <a:xfrm>
            <a:off x="7029450" y="169545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2757F4-3B55-4DB9-AD30-5C8CBD61751E}"/>
              </a:ext>
            </a:extLst>
          </p:cNvPr>
          <p:cNvSpPr>
            <a:spLocks noGrp="1"/>
          </p:cNvSpPr>
          <p:nvPr/>
        </p:nvSpPr>
        <p:spPr>
          <a:xfrm>
            <a:off x="7239000" y="1866900"/>
            <a:ext cx="3486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Controller owns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5A35D8-5D80-4E30-B49C-C84CC3F7DA60}"/>
              </a:ext>
            </a:extLst>
          </p:cNvPr>
          <p:cNvSpPr>
            <a:spLocks noGrp="1"/>
          </p:cNvSpPr>
          <p:nvPr/>
        </p:nvSpPr>
        <p:spPr>
          <a:xfrm>
            <a:off x="7239000" y="2144486"/>
            <a:ext cx="3486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23384E"/>
                </a:solidFill>
              </a:defRPr>
            </a:pPr>
            <a:r>
              <a:rPr sz="1275" b="0" i="0" dirty="0">
                <a:solidFill>
                  <a:srgbClr val="23384E"/>
                </a:solidFill>
              </a:rPr>
              <a:t>stage schedule, </a:t>
            </a:r>
            <a:r>
              <a:rPr sz="1275" b="0" i="0" dirty="0" err="1">
                <a:solidFill>
                  <a:srgbClr val="23384E"/>
                </a:solidFill>
              </a:rPr>
              <a:t>pgrp</a:t>
            </a:r>
            <a:r>
              <a:rPr sz="1275" b="0" i="0" dirty="0">
                <a:solidFill>
                  <a:srgbClr val="23384E"/>
                </a:solidFill>
              </a:rPr>
              <a:t> changes, refinement mode, sampling policy, filter mode, trailing reconstruction switch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06CEEC-C0E9-4EE7-B22F-6493FE05B3F3}"/>
              </a:ext>
            </a:extLst>
          </p:cNvPr>
          <p:cNvSpPr>
            <a:spLocks noGrp="1"/>
          </p:cNvSpPr>
          <p:nvPr/>
        </p:nvSpPr>
        <p:spPr>
          <a:xfrm>
            <a:off x="7029450" y="3067050"/>
            <a:ext cx="3905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E5A2BA0-A7F0-4C4F-B920-78E6BD33FD75}"/>
              </a:ext>
            </a:extLst>
          </p:cNvPr>
          <p:cNvSpPr>
            <a:spLocks noGrp="1"/>
          </p:cNvSpPr>
          <p:nvPr/>
        </p:nvSpPr>
        <p:spPr>
          <a:xfrm>
            <a:off x="7029450" y="306705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BB6F74-AD12-4FD9-AAD4-33019EF0F45D}"/>
              </a:ext>
            </a:extLst>
          </p:cNvPr>
          <p:cNvSpPr>
            <a:spLocks noGrp="1"/>
          </p:cNvSpPr>
          <p:nvPr/>
        </p:nvSpPr>
        <p:spPr>
          <a:xfrm>
            <a:off x="7239000" y="3238500"/>
            <a:ext cx="3486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Matcher owns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B5C246-5E4D-4B28-B5C7-65E0D07F698F}"/>
              </a:ext>
            </a:extLst>
          </p:cNvPr>
          <p:cNvSpPr>
            <a:spLocks noGrp="1"/>
          </p:cNvSpPr>
          <p:nvPr/>
        </p:nvSpPr>
        <p:spPr>
          <a:xfrm>
            <a:off x="7239000" y="3514725"/>
            <a:ext cx="3486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23384E"/>
                </a:solidFill>
              </a:defRPr>
            </a:pPr>
            <a:r>
              <a:rPr sz="1275" b="0" i="0" dirty="0">
                <a:solidFill>
                  <a:srgbClr val="23384E"/>
                </a:solidFill>
              </a:rPr>
              <a:t>probabilistic pre-alignment, particle-domain search, hard assignments, state/pose/shift/sigma updates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8BA45D2-61FB-42BE-A8D0-14ADB551213E}"/>
              </a:ext>
            </a:extLst>
          </p:cNvPr>
          <p:cNvSpPr>
            <a:spLocks noGrp="1"/>
          </p:cNvSpPr>
          <p:nvPr/>
        </p:nvSpPr>
        <p:spPr>
          <a:xfrm>
            <a:off x="7029450" y="4438650"/>
            <a:ext cx="3905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1B24C83-9E99-4B7B-BA2F-3569A172EC99}"/>
              </a:ext>
            </a:extLst>
          </p:cNvPr>
          <p:cNvSpPr>
            <a:spLocks noGrp="1"/>
          </p:cNvSpPr>
          <p:nvPr/>
        </p:nvSpPr>
        <p:spPr>
          <a:xfrm>
            <a:off x="7029450" y="443865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196B24"/>
          </a:solidFill>
          <a:ln w="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E61012-9D46-4CDB-AAF1-5674594BF5AD}"/>
              </a:ext>
            </a:extLst>
          </p:cNvPr>
          <p:cNvSpPr>
            <a:spLocks noGrp="1"/>
          </p:cNvSpPr>
          <p:nvPr/>
        </p:nvSpPr>
        <p:spPr>
          <a:xfrm>
            <a:off x="7239000" y="4610100"/>
            <a:ext cx="3486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Volume assembler owns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7265F7-1B9C-435C-A5AC-72ABAF4C385E}"/>
              </a:ext>
            </a:extLst>
          </p:cNvPr>
          <p:cNvSpPr>
            <a:spLocks noGrp="1"/>
          </p:cNvSpPr>
          <p:nvPr/>
        </p:nvSpPr>
        <p:spPr>
          <a:xfrm>
            <a:off x="7239000" y="4898571"/>
            <a:ext cx="3486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23384E"/>
                </a:solidFill>
              </a:defRPr>
            </a:pPr>
            <a:r>
              <a:rPr sz="1275" b="0" i="0" dirty="0">
                <a:solidFill>
                  <a:srgbClr val="23384E"/>
                </a:solidFill>
              </a:rPr>
              <a:t>partials, even/odd maps, merged map, FSC/conical FSC, </a:t>
            </a:r>
            <a:r>
              <a:rPr sz="1275" b="0" i="0" dirty="0" err="1">
                <a:solidFill>
                  <a:srgbClr val="23384E"/>
                </a:solidFill>
              </a:rPr>
              <a:t>automask</a:t>
            </a:r>
            <a:r>
              <a:rPr sz="1275" b="0" i="0" dirty="0">
                <a:solidFill>
                  <a:srgbClr val="23384E"/>
                </a:solidFill>
              </a:rPr>
              <a:t> and NU-filtered references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E1CA46-ABED-4723-AEF0-EB157FC16055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5A6A7C"/>
                </a:solidFill>
              </a:defRPr>
            </a:pPr>
            <a:r>
              <a:rPr sz="825" b="0" i="0">
                <a:solidFill>
                  <a:srgbClr val="5A6A7C"/>
                </a:solidFill>
              </a:rPr>
              <a:t>Draft technical introduction for development discussion</a:t>
            </a:r>
          </a:p>
        </p:txBody>
      </p:sp>
    </p:spTree>
    <p:extLst>
      <p:ext uri="{BB962C8B-B14F-4D97-AF65-F5344CB8AC3E}">
        <p14:creationId xmlns:p14="http://schemas.microsoft.com/office/powerpoint/2010/main" val="677556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7AA6D744-68E1-48E7-BD9C-E11AF815694C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E97132"/>
                </a:solidFill>
              </a:defRPr>
            </a:pPr>
            <a:r>
              <a:rPr sz="900" b="1" i="0">
                <a:solidFill>
                  <a:srgbClr val="E97132"/>
                </a:solidFill>
              </a:rPr>
              <a:t>SIMPLE ABINITIO3D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F15518-E0FD-4BB5-B207-8EEA5B12FA84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885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 i="0">
                <a:solidFill>
                  <a:srgbClr val="0E2841"/>
                </a:solidFill>
              </a:defRPr>
            </a:pPr>
            <a:r>
              <a:rPr sz="2700" b="1" i="0">
                <a:solidFill>
                  <a:srgbClr val="0E2841"/>
                </a:solidFill>
              </a:rPr>
              <a:t>One stage is an optimization loop around refine3D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36BE49-B3DD-4AC9-A662-572298D7008D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5A6A7C"/>
                </a:solidFill>
              </a:defRPr>
            </a:pPr>
            <a:r>
              <a:rPr sz="1050" b="1" i="0">
                <a:solidFill>
                  <a:srgbClr val="5A6A7C"/>
                </a:solidFill>
              </a:rPr>
              <a:t>03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DF0A7E2-2132-4055-BFC0-38394B58F850}"/>
              </a:ext>
            </a:extLst>
          </p:cNvPr>
          <p:cNvSpPr>
            <a:spLocks noGrp="1"/>
          </p:cNvSpPr>
          <p:nvPr/>
        </p:nvSpPr>
        <p:spPr>
          <a:xfrm>
            <a:off x="514350" y="1371600"/>
            <a:ext cx="11163300" cy="0"/>
          </a:xfrm>
          <a:prstGeom prst="line">
            <a:avLst/>
          </a:prstGeom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73942F5-62BB-4170-AE82-F7D6B0F6ADE1}"/>
              </a:ext>
            </a:extLst>
          </p:cNvPr>
          <p:cNvSpPr>
            <a:spLocks noGrp="1"/>
          </p:cNvSpPr>
          <p:nvPr/>
        </p:nvSpPr>
        <p:spPr>
          <a:xfrm>
            <a:off x="571500" y="2362200"/>
            <a:ext cx="12192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9D15F-4D95-47E1-A17D-43B72DF67A33}"/>
              </a:ext>
            </a:extLst>
          </p:cNvPr>
          <p:cNvSpPr>
            <a:spLocks noGrp="1"/>
          </p:cNvSpPr>
          <p:nvPr/>
        </p:nvSpPr>
        <p:spPr>
          <a:xfrm>
            <a:off x="742950" y="25146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E97132"/>
                </a:solidFill>
              </a:defRPr>
            </a:pPr>
            <a:r>
              <a:rPr sz="1350" b="1" i="0">
                <a:solidFill>
                  <a:srgbClr val="E97132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C94EBF-1E8F-4D09-A126-9C9F434A89CB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0E2841"/>
                </a:solidFill>
              </a:defRPr>
            </a:pPr>
            <a:r>
              <a:rPr sz="1425" b="1" i="0">
                <a:solidFill>
                  <a:srgbClr val="0E2841"/>
                </a:solidFill>
              </a:rPr>
              <a:t>Run</a:t>
            </a:r>
          </a:p>
          <a:p>
            <a:pPr>
              <a:defRPr sz="1425" b="1" i="0">
                <a:solidFill>
                  <a:srgbClr val="0E2841"/>
                </a:solidFill>
              </a:defRPr>
            </a:pPr>
            <a:r>
              <a:rPr sz="1425" b="1" i="0">
                <a:solidFill>
                  <a:srgbClr val="0E2841"/>
                </a:solidFill>
              </a:rPr>
              <a:t>child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A2B28D-967B-47F7-A871-0D9B1911D50C}"/>
              </a:ext>
            </a:extLst>
          </p:cNvPr>
          <p:cNvSpPr>
            <a:spLocks noGrp="1"/>
          </p:cNvSpPr>
          <p:nvPr/>
        </p:nvSpPr>
        <p:spPr>
          <a:xfrm>
            <a:off x="1828800" y="28194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5A6A7C"/>
                </a:solidFill>
              </a:defRPr>
            </a:pPr>
            <a:r>
              <a:rPr sz="1800" b="1" i="0">
                <a:solidFill>
                  <a:srgbClr val="5A6A7C"/>
                </a:solidFill>
              </a:rPr>
              <a:t>&gt;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F607DE4-B769-4164-899D-4BAC483833B2}"/>
              </a:ext>
            </a:extLst>
          </p:cNvPr>
          <p:cNvSpPr>
            <a:spLocks noGrp="1"/>
          </p:cNvSpPr>
          <p:nvPr/>
        </p:nvSpPr>
        <p:spPr>
          <a:xfrm>
            <a:off x="2143125" y="2362200"/>
            <a:ext cx="12192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BE9A65-740C-44F8-9A3B-2B76BD417FA5}"/>
              </a:ext>
            </a:extLst>
          </p:cNvPr>
          <p:cNvSpPr>
            <a:spLocks noGrp="1"/>
          </p:cNvSpPr>
          <p:nvPr/>
        </p:nvSpPr>
        <p:spPr>
          <a:xfrm>
            <a:off x="2314575" y="25146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E97132"/>
                </a:solidFill>
              </a:defRPr>
            </a:pPr>
            <a:r>
              <a:rPr sz="1350" b="1" i="0">
                <a:solidFill>
                  <a:srgbClr val="E97132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C7EF4C-768F-4ADD-AB24-798279C334FD}"/>
              </a:ext>
            </a:extLst>
          </p:cNvPr>
          <p:cNvSpPr>
            <a:spLocks noGrp="1"/>
          </p:cNvSpPr>
          <p:nvPr/>
        </p:nvSpPr>
        <p:spPr>
          <a:xfrm>
            <a:off x="2314575" y="28194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0E2841"/>
                </a:solidFill>
              </a:defRPr>
            </a:pPr>
            <a:r>
              <a:rPr sz="1425" b="1" i="0">
                <a:solidFill>
                  <a:srgbClr val="0E2841"/>
                </a:solidFill>
              </a:rPr>
              <a:t>Prep</a:t>
            </a:r>
          </a:p>
          <a:p>
            <a:pPr>
              <a:defRPr sz="1425" b="1" i="0">
                <a:solidFill>
                  <a:srgbClr val="0E2841"/>
                </a:solidFill>
              </a:defRPr>
            </a:pPr>
            <a:r>
              <a:rPr sz="1425" b="1" i="0">
                <a:solidFill>
                  <a:srgbClr val="0E2841"/>
                </a:solidFill>
              </a:rPr>
              <a:t>refs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60F9D-1C03-48D6-AFC1-97637CD8B798}"/>
              </a:ext>
            </a:extLst>
          </p:cNvPr>
          <p:cNvSpPr>
            <a:spLocks noGrp="1"/>
          </p:cNvSpPr>
          <p:nvPr/>
        </p:nvSpPr>
        <p:spPr>
          <a:xfrm>
            <a:off x="3400425" y="28194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5A6A7C"/>
                </a:solidFill>
              </a:defRPr>
            </a:pPr>
            <a:r>
              <a:rPr sz="1800" b="1" i="0">
                <a:solidFill>
                  <a:srgbClr val="5A6A7C"/>
                </a:solidFill>
              </a:rPr>
              <a:t>&gt;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A1DEE86-7810-4DBA-89E4-C27B2BE268D8}"/>
              </a:ext>
            </a:extLst>
          </p:cNvPr>
          <p:cNvSpPr>
            <a:spLocks noGrp="1"/>
          </p:cNvSpPr>
          <p:nvPr/>
        </p:nvSpPr>
        <p:spPr>
          <a:xfrm>
            <a:off x="3714750" y="2362200"/>
            <a:ext cx="12192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B50334-2E3C-4C2D-97BF-70583F691699}"/>
              </a:ext>
            </a:extLst>
          </p:cNvPr>
          <p:cNvSpPr>
            <a:spLocks noGrp="1"/>
          </p:cNvSpPr>
          <p:nvPr/>
        </p:nvSpPr>
        <p:spPr>
          <a:xfrm>
            <a:off x="3886200" y="25146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156082"/>
                </a:solidFill>
              </a:defRPr>
            </a:pPr>
            <a:r>
              <a:rPr sz="1350" b="1" i="0">
                <a:solidFill>
                  <a:srgbClr val="156082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C54C5A-8F72-4C7B-9957-DA7EFA955521}"/>
              </a:ext>
            </a:extLst>
          </p:cNvPr>
          <p:cNvSpPr>
            <a:spLocks noGrp="1"/>
          </p:cNvSpPr>
          <p:nvPr/>
        </p:nvSpPr>
        <p:spPr>
          <a:xfrm>
            <a:off x="3886200" y="28194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0E2841"/>
                </a:solidFill>
              </a:defRPr>
            </a:pPr>
            <a:r>
              <a:rPr sz="1425" b="1" i="0">
                <a:solidFill>
                  <a:srgbClr val="0E2841"/>
                </a:solidFill>
              </a:rPr>
              <a:t>Search</a:t>
            </a:r>
          </a:p>
          <a:p>
            <a:pPr>
              <a:defRPr sz="1425" b="1" i="0">
                <a:solidFill>
                  <a:srgbClr val="0E2841"/>
                </a:solidFill>
              </a:defRPr>
            </a:pPr>
            <a:r>
              <a:rPr sz="1425" b="1" i="0">
                <a:solidFill>
                  <a:srgbClr val="0E2841"/>
                </a:solidFill>
              </a:rPr>
              <a:t>poses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B8327C-FED3-4BF8-BA69-FC77A3B0D5A2}"/>
              </a:ext>
            </a:extLst>
          </p:cNvPr>
          <p:cNvSpPr>
            <a:spLocks noGrp="1"/>
          </p:cNvSpPr>
          <p:nvPr/>
        </p:nvSpPr>
        <p:spPr>
          <a:xfrm>
            <a:off x="4972050" y="28194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5A6A7C"/>
                </a:solidFill>
              </a:defRPr>
            </a:pPr>
            <a:r>
              <a:rPr sz="1800" b="1" i="0">
                <a:solidFill>
                  <a:srgbClr val="5A6A7C"/>
                </a:solidFill>
              </a:rPr>
              <a:t>&gt;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444F2B6-CC5F-44D3-BA60-A3DAFDFCA2CA}"/>
              </a:ext>
            </a:extLst>
          </p:cNvPr>
          <p:cNvSpPr>
            <a:spLocks noGrp="1"/>
          </p:cNvSpPr>
          <p:nvPr/>
        </p:nvSpPr>
        <p:spPr>
          <a:xfrm>
            <a:off x="5286375" y="2362200"/>
            <a:ext cx="12192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E4CA02-8960-4742-B9F8-9B5A27C3E14A}"/>
              </a:ext>
            </a:extLst>
          </p:cNvPr>
          <p:cNvSpPr>
            <a:spLocks noGrp="1"/>
          </p:cNvSpPr>
          <p:nvPr/>
        </p:nvSpPr>
        <p:spPr>
          <a:xfrm>
            <a:off x="5457825" y="25146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156082"/>
                </a:solidFill>
              </a:defRPr>
            </a:pPr>
            <a:r>
              <a:rPr sz="1350" b="1" i="0">
                <a:solidFill>
                  <a:srgbClr val="156082"/>
                </a:solidFill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BD33B6-DEBF-4D26-A004-766018C874ED}"/>
              </a:ext>
            </a:extLst>
          </p:cNvPr>
          <p:cNvSpPr>
            <a:spLocks noGrp="1"/>
          </p:cNvSpPr>
          <p:nvPr/>
        </p:nvSpPr>
        <p:spPr>
          <a:xfrm>
            <a:off x="5457825" y="28194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0E2841"/>
                </a:solidFill>
              </a:defRPr>
            </a:pPr>
            <a:r>
              <a:rPr sz="1425" b="1" i="0">
                <a:solidFill>
                  <a:srgbClr val="0E2841"/>
                </a:solidFill>
              </a:rPr>
              <a:t>Assign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9872F9-AE2F-446F-B974-3F3417E8FF45}"/>
              </a:ext>
            </a:extLst>
          </p:cNvPr>
          <p:cNvSpPr>
            <a:spLocks noGrp="1"/>
          </p:cNvSpPr>
          <p:nvPr/>
        </p:nvSpPr>
        <p:spPr>
          <a:xfrm>
            <a:off x="6543675" y="28194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5A6A7C"/>
                </a:solidFill>
              </a:defRPr>
            </a:pPr>
            <a:r>
              <a:rPr sz="1800" b="1" i="0">
                <a:solidFill>
                  <a:srgbClr val="5A6A7C"/>
                </a:solidFill>
              </a:rPr>
              <a:t>&gt;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B628523-5A31-4004-ACDA-D5837F80C075}"/>
              </a:ext>
            </a:extLst>
          </p:cNvPr>
          <p:cNvSpPr>
            <a:spLocks noGrp="1"/>
          </p:cNvSpPr>
          <p:nvPr/>
        </p:nvSpPr>
        <p:spPr>
          <a:xfrm>
            <a:off x="6858000" y="2362200"/>
            <a:ext cx="12192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AF6EDF-A9B2-4A4A-8035-C5209465DA40}"/>
              </a:ext>
            </a:extLst>
          </p:cNvPr>
          <p:cNvSpPr>
            <a:spLocks noGrp="1"/>
          </p:cNvSpPr>
          <p:nvPr/>
        </p:nvSpPr>
        <p:spPr>
          <a:xfrm>
            <a:off x="7029450" y="25146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156082"/>
                </a:solidFill>
              </a:defRPr>
            </a:pPr>
            <a:r>
              <a:rPr sz="1350" b="1" i="0">
                <a:solidFill>
                  <a:srgbClr val="156082"/>
                </a:solidFill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A91F52-6FE4-4AB7-B186-55DD2EAC2AF2}"/>
              </a:ext>
            </a:extLst>
          </p:cNvPr>
          <p:cNvSpPr>
            <a:spLocks noGrp="1"/>
          </p:cNvSpPr>
          <p:nvPr/>
        </p:nvSpPr>
        <p:spPr>
          <a:xfrm>
            <a:off x="7029450" y="28194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0E2841"/>
                </a:solidFill>
              </a:defRPr>
            </a:pPr>
            <a:r>
              <a:rPr sz="1425" b="1" i="0">
                <a:solidFill>
                  <a:srgbClr val="0E2841"/>
                </a:solidFill>
              </a:rPr>
              <a:t>Partials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314070-FA59-4A5C-A81D-3E08E5CFED0F}"/>
              </a:ext>
            </a:extLst>
          </p:cNvPr>
          <p:cNvSpPr>
            <a:spLocks noGrp="1"/>
          </p:cNvSpPr>
          <p:nvPr/>
        </p:nvSpPr>
        <p:spPr>
          <a:xfrm>
            <a:off x="8115300" y="28194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5A6A7C"/>
                </a:solidFill>
              </a:defRPr>
            </a:pPr>
            <a:r>
              <a:rPr sz="1800" b="1" i="0">
                <a:solidFill>
                  <a:srgbClr val="5A6A7C"/>
                </a:solidFill>
              </a:rPr>
              <a:t>&gt;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F2F3CC5-89DF-4530-8EF5-6F9EA85469B2}"/>
              </a:ext>
            </a:extLst>
          </p:cNvPr>
          <p:cNvSpPr>
            <a:spLocks noGrp="1"/>
          </p:cNvSpPr>
          <p:nvPr/>
        </p:nvSpPr>
        <p:spPr>
          <a:xfrm>
            <a:off x="8429625" y="2362200"/>
            <a:ext cx="12192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5A98B1-00B3-4DA9-AC3C-385327F491FD}"/>
              </a:ext>
            </a:extLst>
          </p:cNvPr>
          <p:cNvSpPr>
            <a:spLocks noGrp="1"/>
          </p:cNvSpPr>
          <p:nvPr/>
        </p:nvSpPr>
        <p:spPr>
          <a:xfrm>
            <a:off x="8601075" y="25146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196B24"/>
                </a:solidFill>
              </a:defRPr>
            </a:pPr>
            <a:r>
              <a:rPr sz="1350" b="1" i="0">
                <a:solidFill>
                  <a:srgbClr val="196B24"/>
                </a:solidFill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0A7F06-AB65-4C2C-9D41-CAF375E331EC}"/>
              </a:ext>
            </a:extLst>
          </p:cNvPr>
          <p:cNvSpPr>
            <a:spLocks noGrp="1"/>
          </p:cNvSpPr>
          <p:nvPr/>
        </p:nvSpPr>
        <p:spPr>
          <a:xfrm>
            <a:off x="8601075" y="28194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0E2841"/>
                </a:solidFill>
              </a:defRPr>
            </a:pPr>
            <a:r>
              <a:rPr sz="1425" b="1" i="0">
                <a:solidFill>
                  <a:srgbClr val="0E2841"/>
                </a:solidFill>
              </a:rPr>
              <a:t>Make</a:t>
            </a:r>
          </a:p>
          <a:p>
            <a:pPr>
              <a:defRPr sz="1425" b="1" i="0">
                <a:solidFill>
                  <a:srgbClr val="0E2841"/>
                </a:solidFill>
              </a:defRPr>
            </a:pPr>
            <a:r>
              <a:rPr sz="1425" b="1" i="0">
                <a:solidFill>
                  <a:srgbClr val="0E2841"/>
                </a:solidFill>
              </a:rPr>
              <a:t>map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52F760-1C6E-461F-858A-D199F2C26238}"/>
              </a:ext>
            </a:extLst>
          </p:cNvPr>
          <p:cNvSpPr>
            <a:spLocks noGrp="1"/>
          </p:cNvSpPr>
          <p:nvPr/>
        </p:nvSpPr>
        <p:spPr>
          <a:xfrm>
            <a:off x="9686925" y="28194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5A6A7C"/>
                </a:solidFill>
              </a:defRPr>
            </a:pPr>
            <a:r>
              <a:rPr sz="1800" b="1" i="0">
                <a:solidFill>
                  <a:srgbClr val="5A6A7C"/>
                </a:solidFill>
              </a:rPr>
              <a:t>&gt;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210F567-B47E-4EC7-8536-56BA436EC69E}"/>
              </a:ext>
            </a:extLst>
          </p:cNvPr>
          <p:cNvSpPr>
            <a:spLocks noGrp="1"/>
          </p:cNvSpPr>
          <p:nvPr/>
        </p:nvSpPr>
        <p:spPr>
          <a:xfrm>
            <a:off x="10001250" y="2362200"/>
            <a:ext cx="12192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98C533-5037-42E6-A98A-5A82AE269C55}"/>
              </a:ext>
            </a:extLst>
          </p:cNvPr>
          <p:cNvSpPr>
            <a:spLocks noGrp="1"/>
          </p:cNvSpPr>
          <p:nvPr/>
        </p:nvSpPr>
        <p:spPr>
          <a:xfrm>
            <a:off x="10172700" y="25146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196B24"/>
                </a:solidFill>
              </a:defRPr>
            </a:pPr>
            <a:r>
              <a:rPr sz="1350" b="1" i="0">
                <a:solidFill>
                  <a:srgbClr val="196B24"/>
                </a:solidFill>
              </a:rPr>
              <a:t>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915F6E-A333-494C-A5FC-DBD23F4A1414}"/>
              </a:ext>
            </a:extLst>
          </p:cNvPr>
          <p:cNvSpPr>
            <a:spLocks noGrp="1"/>
          </p:cNvSpPr>
          <p:nvPr/>
        </p:nvSpPr>
        <p:spPr>
          <a:xfrm>
            <a:off x="10172700" y="28194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0E2841"/>
                </a:solidFill>
              </a:defRPr>
            </a:pPr>
            <a:r>
              <a:rPr sz="1425" b="1" i="0">
                <a:solidFill>
                  <a:srgbClr val="0E2841"/>
                </a:solidFill>
              </a:rPr>
              <a:t>Save</a:t>
            </a:r>
          </a:p>
          <a:p>
            <a:pPr>
              <a:defRPr sz="1425" b="1" i="0">
                <a:solidFill>
                  <a:srgbClr val="0E2841"/>
                </a:solidFill>
              </a:defRPr>
            </a:pPr>
            <a:r>
              <a:rPr sz="1425" b="1" i="0">
                <a:solidFill>
                  <a:srgbClr val="0E2841"/>
                </a:solidFill>
              </a:rPr>
              <a:t>state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EBA5896-4D41-4222-8D86-800D60BB0C75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4572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4C4D32B-8F6C-4FAE-81CA-A3E4CDDEB25E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76200" cy="114300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51F58B-3C5E-4227-98B2-63985710E25A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415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 dirty="0">
                <a:solidFill>
                  <a:srgbClr val="0E2841"/>
                </a:solidFill>
              </a:rPr>
              <a:t>Within a stage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DE1CE7-48E1-4D30-900A-D263E50FEE48}"/>
              </a:ext>
            </a:extLst>
          </p:cNvPr>
          <p:cNvSpPr>
            <a:spLocks noGrp="1"/>
          </p:cNvSpPr>
          <p:nvPr/>
        </p:nvSpPr>
        <p:spPr>
          <a:xfrm>
            <a:off x="1114425" y="4610100"/>
            <a:ext cx="415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23384E"/>
                </a:solidFill>
              </a:defRPr>
            </a:pPr>
            <a:r>
              <a:rPr sz="1275" b="0" i="0" dirty="0">
                <a:solidFill>
                  <a:srgbClr val="23384E"/>
                </a:solidFill>
              </a:rPr>
              <a:t>The child job iterates up to the stage </a:t>
            </a:r>
            <a:r>
              <a:rPr sz="1275" b="0" i="0" dirty="0" err="1">
                <a:solidFill>
                  <a:srgbClr val="23384E"/>
                </a:solidFill>
              </a:rPr>
              <a:t>maxits</a:t>
            </a:r>
            <a:r>
              <a:rPr sz="1275" b="0" i="0" dirty="0">
                <a:solidFill>
                  <a:srgbClr val="23384E"/>
                </a:solidFill>
              </a:rPr>
              <a:t> value. Each iteration consumes the current volume-derived references and writes updated particle assignments and partial reconstructions.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22D9B67-338E-4EDE-95F9-3F8EC6B9E9DA}"/>
              </a:ext>
            </a:extLst>
          </p:cNvPr>
          <p:cNvSpPr>
            <a:spLocks noGrp="1"/>
          </p:cNvSpPr>
          <p:nvPr/>
        </p:nvSpPr>
        <p:spPr>
          <a:xfrm>
            <a:off x="6115050" y="4305300"/>
            <a:ext cx="4572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D2FD15B-2EE8-45A6-8C21-AFA9C14C4FC4}"/>
              </a:ext>
            </a:extLst>
          </p:cNvPr>
          <p:cNvSpPr>
            <a:spLocks noGrp="1"/>
          </p:cNvSpPr>
          <p:nvPr/>
        </p:nvSpPr>
        <p:spPr>
          <a:xfrm>
            <a:off x="6115050" y="4305300"/>
            <a:ext cx="76200" cy="114300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354445-2EC3-4654-9DE9-AAAA91F9D1C0}"/>
              </a:ext>
            </a:extLst>
          </p:cNvPr>
          <p:cNvSpPr>
            <a:spLocks noGrp="1"/>
          </p:cNvSpPr>
          <p:nvPr/>
        </p:nvSpPr>
        <p:spPr>
          <a:xfrm>
            <a:off x="6324600" y="4343400"/>
            <a:ext cx="415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Between stages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C23529-AF30-4451-AD27-BBA445457B91}"/>
              </a:ext>
            </a:extLst>
          </p:cNvPr>
          <p:cNvSpPr>
            <a:spLocks noGrp="1"/>
          </p:cNvSpPr>
          <p:nvPr/>
        </p:nvSpPr>
        <p:spPr>
          <a:xfrm>
            <a:off x="6315075" y="4630511"/>
            <a:ext cx="415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23384E"/>
                </a:solidFill>
              </a:defRPr>
            </a:pPr>
            <a:r>
              <a:rPr sz="1275" b="0" i="0" dirty="0">
                <a:solidFill>
                  <a:srgbClr val="23384E"/>
                </a:solidFill>
              </a:rPr>
              <a:t>The controller updates policy knobs: search space, refinement mode, sampling fraction, filtering, masks, and whether trailing reconstruction is active.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BF4C32A-D333-4E96-BABA-083EFABB3240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5A6A7C"/>
                </a:solidFill>
              </a:defRPr>
            </a:pPr>
            <a:r>
              <a:rPr sz="825" b="0" i="0">
                <a:solidFill>
                  <a:srgbClr val="5A6A7C"/>
                </a:solidFill>
              </a:rPr>
              <a:t>Draft technical introduction for development discussion</a:t>
            </a:r>
          </a:p>
        </p:txBody>
      </p:sp>
    </p:spTree>
    <p:extLst>
      <p:ext uri="{BB962C8B-B14F-4D97-AF65-F5344CB8AC3E}">
        <p14:creationId xmlns:p14="http://schemas.microsoft.com/office/powerpoint/2010/main" val="736872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DF6847DE-6973-4486-9504-1DC8E9F4C676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E97132"/>
                </a:solidFill>
              </a:defRPr>
            </a:pPr>
            <a:r>
              <a:rPr sz="900" b="1" i="0">
                <a:solidFill>
                  <a:srgbClr val="E97132"/>
                </a:solidFill>
              </a:rPr>
              <a:t>SIMPLE ABINITIO3D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1E471A-DA44-4484-8E5F-C0935AF4A8A9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885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 i="0">
                <a:solidFill>
                  <a:srgbClr val="0E2841"/>
                </a:solidFill>
              </a:defRPr>
            </a:pPr>
            <a:r>
              <a:rPr sz="2700" b="1" i="0">
                <a:solidFill>
                  <a:srgbClr val="0E2841"/>
                </a:solidFill>
              </a:rPr>
              <a:t>Stage schedule: what changes across the run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02135-96EA-4D69-94D8-3B8AA695F8D2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5A6A7C"/>
                </a:solidFill>
              </a:defRPr>
            </a:pPr>
            <a:r>
              <a:rPr sz="1050" b="1" i="0">
                <a:solidFill>
                  <a:srgbClr val="5A6A7C"/>
                </a:solidFill>
              </a:rPr>
              <a:t>04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020F2AF-061D-4E7D-9A08-39420CB817A1}"/>
              </a:ext>
            </a:extLst>
          </p:cNvPr>
          <p:cNvSpPr>
            <a:spLocks noGrp="1"/>
          </p:cNvSpPr>
          <p:nvPr/>
        </p:nvSpPr>
        <p:spPr>
          <a:xfrm>
            <a:off x="514350" y="1371600"/>
            <a:ext cx="11163300" cy="0"/>
          </a:xfrm>
          <a:prstGeom prst="line">
            <a:avLst/>
          </a:prstGeom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A623B3-70E1-441C-9417-1A68704A2F15}"/>
              </a:ext>
            </a:extLst>
          </p:cNvPr>
          <p:cNvSpPr>
            <a:spLocks noGrp="1"/>
          </p:cNvSpPr>
          <p:nvPr/>
        </p:nvSpPr>
        <p:spPr>
          <a:xfrm>
            <a:off x="514350" y="1676400"/>
            <a:ext cx="11163300" cy="400050"/>
          </a:xfrm>
          <a:prstGeom prst="roundRect">
            <a:avLst>
              <a:gd name="adj" fmla="val 19048"/>
            </a:avLst>
          </a:prstGeom>
          <a:solidFill>
            <a:srgbClr val="0E2841"/>
          </a:solidFill>
          <a:ln w="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F1B9B-FEED-4356-A29A-8AD8BDFD4F1D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704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839745-D8BF-42B5-9995-3A20BA5154DA}"/>
              </a:ext>
            </a:extLst>
          </p:cNvPr>
          <p:cNvSpPr>
            <a:spLocks noGrp="1"/>
          </p:cNvSpPr>
          <p:nvPr/>
        </p:nvSpPr>
        <p:spPr>
          <a:xfrm>
            <a:off x="1314450" y="17907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Refine policy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AD67BC-34DA-4633-BBD6-6009E65A1B0F}"/>
              </a:ext>
            </a:extLst>
          </p:cNvPr>
          <p:cNvSpPr>
            <a:spLocks noGrp="1"/>
          </p:cNvSpPr>
          <p:nvPr/>
        </p:nvSpPr>
        <p:spPr>
          <a:xfrm>
            <a:off x="3486150" y="1790700"/>
            <a:ext cx="1381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D9EC5-ABF7-4DC7-B3E5-667064294AB2}"/>
              </a:ext>
            </a:extLst>
          </p:cNvPr>
          <p:cNvSpPr>
            <a:spLocks noGrp="1"/>
          </p:cNvSpPr>
          <p:nvPr/>
        </p:nvSpPr>
        <p:spPr>
          <a:xfrm>
            <a:off x="4953000" y="1790700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Iterations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56D343-373A-4880-ABB3-73850AFB3CE3}"/>
              </a:ext>
            </a:extLst>
          </p:cNvPr>
          <p:cNvSpPr>
            <a:spLocks noGrp="1"/>
          </p:cNvSpPr>
          <p:nvPr/>
        </p:nvSpPr>
        <p:spPr>
          <a:xfrm>
            <a:off x="6115050" y="1790700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Main intent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6A71931-EB18-4FF2-9C4A-C03DC782A29E}"/>
              </a:ext>
            </a:extLst>
          </p:cNvPr>
          <p:cNvSpPr>
            <a:spLocks noGrp="1"/>
          </p:cNvSpPr>
          <p:nvPr/>
        </p:nvSpPr>
        <p:spPr>
          <a:xfrm>
            <a:off x="514350" y="2076450"/>
            <a:ext cx="111633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EC28352-099C-44E9-BC1A-14134D54C8F3}"/>
              </a:ext>
            </a:extLst>
          </p:cNvPr>
          <p:cNvSpPr>
            <a:spLocks noGrp="1"/>
          </p:cNvSpPr>
          <p:nvPr/>
        </p:nvSpPr>
        <p:spPr>
          <a:xfrm>
            <a:off x="514350" y="2076450"/>
            <a:ext cx="95250" cy="47625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56056B-FC08-4BCC-BCE8-9196CF1363E6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E2841"/>
                </a:solidFill>
              </a:defRPr>
            </a:pPr>
            <a:r>
              <a:rPr sz="1200" b="1" i="0">
                <a:solidFill>
                  <a:srgbClr val="0E284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396825-8E51-4E37-A3A7-3ED6592A7FAD}"/>
              </a:ext>
            </a:extLst>
          </p:cNvPr>
          <p:cNvSpPr>
            <a:spLocks noGrp="1"/>
          </p:cNvSpPr>
          <p:nvPr/>
        </p:nvSpPr>
        <p:spPr>
          <a:xfrm>
            <a:off x="1314450" y="22098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23384E"/>
                </a:solidFill>
              </a:defRPr>
            </a:pPr>
            <a:r>
              <a:rPr sz="1200" b="1" i="0">
                <a:solidFill>
                  <a:srgbClr val="23384E"/>
                </a:solidFill>
              </a:rPr>
              <a:t>prob_neigh / snhc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6AE9CF-166D-49E5-A9E8-82DF5B088118}"/>
              </a:ext>
            </a:extLst>
          </p:cNvPr>
          <p:cNvSpPr>
            <a:spLocks noGrp="1"/>
          </p:cNvSpPr>
          <p:nvPr/>
        </p:nvSpPr>
        <p:spPr>
          <a:xfrm>
            <a:off x="3486150" y="22098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nspace 1000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F4D706-4D7D-493A-8FA8-244F6374BE12}"/>
              </a:ext>
            </a:extLst>
          </p:cNvPr>
          <p:cNvSpPr>
            <a:spLocks noGrp="1"/>
          </p:cNvSpPr>
          <p:nvPr/>
        </p:nvSpPr>
        <p:spPr>
          <a:xfrm>
            <a:off x="5067300" y="220980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1058E1-DC1B-4973-BD06-1A0C06C355BC}"/>
              </a:ext>
            </a:extLst>
          </p:cNvPr>
          <p:cNvSpPr>
            <a:spLocks noGrp="1"/>
          </p:cNvSpPr>
          <p:nvPr/>
        </p:nvSpPr>
        <p:spPr>
          <a:xfrm>
            <a:off x="6115050" y="21717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0" i="0">
                <a:solidFill>
                  <a:srgbClr val="23384E"/>
                </a:solidFill>
              </a:defRPr>
            </a:pPr>
            <a:r>
              <a:rPr sz="1088" b="0" i="0">
                <a:solidFill>
                  <a:srgbClr val="23384E"/>
                </a:solidFill>
              </a:rPr>
              <a:t>startup exploration with stochastic neighborhood hill climbing; no translations, no ML regularization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F09D571-8848-4E75-89BE-54FF98200DA6}"/>
              </a:ext>
            </a:extLst>
          </p:cNvPr>
          <p:cNvSpPr>
            <a:spLocks noGrp="1"/>
          </p:cNvSpPr>
          <p:nvPr/>
        </p:nvSpPr>
        <p:spPr>
          <a:xfrm>
            <a:off x="514350" y="2552700"/>
            <a:ext cx="111633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EF2E9D0-BA9E-49A2-AC20-84EBE1550D7C}"/>
              </a:ext>
            </a:extLst>
          </p:cNvPr>
          <p:cNvSpPr>
            <a:spLocks noGrp="1"/>
          </p:cNvSpPr>
          <p:nvPr/>
        </p:nvSpPr>
        <p:spPr>
          <a:xfrm>
            <a:off x="514350" y="2552700"/>
            <a:ext cx="95250" cy="47625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C3C2CA-E3CC-4A0F-A566-2F4B82B0A8B4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E2841"/>
                </a:solidFill>
              </a:defRPr>
            </a:pPr>
            <a:r>
              <a:rPr sz="1200" b="1" i="0">
                <a:solidFill>
                  <a:srgbClr val="0E2841"/>
                </a:solidFill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F4E070-A308-461D-8FBB-B4F2E8F36941}"/>
              </a:ext>
            </a:extLst>
          </p:cNvPr>
          <p:cNvSpPr>
            <a:spLocks noGrp="1"/>
          </p:cNvSpPr>
          <p:nvPr/>
        </p:nvSpPr>
        <p:spPr>
          <a:xfrm>
            <a:off x="1314450" y="26860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23384E"/>
                </a:solidFill>
              </a:defRPr>
            </a:pPr>
            <a:r>
              <a:rPr sz="1200" b="1" i="0">
                <a:solidFill>
                  <a:srgbClr val="23384E"/>
                </a:solidFill>
              </a:rPr>
              <a:t>prob_neigh / shc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EAE9FC-94D8-4D86-AFCA-2D7E5A0DFB7E}"/>
              </a:ext>
            </a:extLst>
          </p:cNvPr>
          <p:cNvSpPr>
            <a:spLocks noGrp="1"/>
          </p:cNvSpPr>
          <p:nvPr/>
        </p:nvSpPr>
        <p:spPr>
          <a:xfrm>
            <a:off x="3486150" y="26860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nspace 1000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06FD64-34B4-482B-AEA0-C4D661DC1535}"/>
              </a:ext>
            </a:extLst>
          </p:cNvPr>
          <p:cNvSpPr>
            <a:spLocks noGrp="1"/>
          </p:cNvSpPr>
          <p:nvPr/>
        </p:nvSpPr>
        <p:spPr>
          <a:xfrm>
            <a:off x="5067300" y="268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20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DB2AAA-C0B4-45F2-B16C-105B2E7B41E1}"/>
              </a:ext>
            </a:extLst>
          </p:cNvPr>
          <p:cNvSpPr>
            <a:spLocks noGrp="1"/>
          </p:cNvSpPr>
          <p:nvPr/>
        </p:nvSpPr>
        <p:spPr>
          <a:xfrm>
            <a:off x="6115050" y="264795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0" i="0">
                <a:solidFill>
                  <a:srgbClr val="23384E"/>
                </a:solidFill>
              </a:defRPr>
            </a:pPr>
            <a:r>
              <a:rPr sz="1088" b="0" i="0" dirty="0">
                <a:solidFill>
                  <a:srgbClr val="23384E"/>
                </a:solidFill>
              </a:rPr>
              <a:t>continue coarse search, switch to standard </a:t>
            </a:r>
            <a:r>
              <a:rPr lang="en-US" sz="1088" dirty="0">
                <a:solidFill>
                  <a:srgbClr val="23384E"/>
                </a:solidFill>
              </a:rPr>
              <a:t>stochastic </a:t>
            </a:r>
            <a:r>
              <a:rPr sz="1088" b="0" i="0" dirty="0">
                <a:solidFill>
                  <a:srgbClr val="23384E"/>
                </a:solidFill>
              </a:rPr>
              <a:t>hill climbing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A740F66-91C6-4741-8277-63A9AB5782B8}"/>
              </a:ext>
            </a:extLst>
          </p:cNvPr>
          <p:cNvSpPr>
            <a:spLocks noGrp="1"/>
          </p:cNvSpPr>
          <p:nvPr/>
        </p:nvSpPr>
        <p:spPr>
          <a:xfrm>
            <a:off x="514350" y="3028950"/>
            <a:ext cx="111633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3F0532B-7586-4305-A51B-3184F5DEA22F}"/>
              </a:ext>
            </a:extLst>
          </p:cNvPr>
          <p:cNvSpPr>
            <a:spLocks noGrp="1"/>
          </p:cNvSpPr>
          <p:nvPr/>
        </p:nvSpPr>
        <p:spPr>
          <a:xfrm>
            <a:off x="514350" y="3028950"/>
            <a:ext cx="95250" cy="47625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82340D-A62D-44FB-9E01-B2B7C635A1D5}"/>
              </a:ext>
            </a:extLst>
          </p:cNvPr>
          <p:cNvSpPr>
            <a:spLocks noGrp="1"/>
          </p:cNvSpPr>
          <p:nvPr/>
        </p:nvSpPr>
        <p:spPr>
          <a:xfrm>
            <a:off x="742950" y="31623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E2841"/>
                </a:solidFill>
              </a:defRPr>
            </a:pPr>
            <a:r>
              <a:rPr sz="1200" b="1" i="0">
                <a:solidFill>
                  <a:srgbClr val="0E2841"/>
                </a:solidFill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1EB50E-F5F6-4002-A1A6-493688CE4061}"/>
              </a:ext>
            </a:extLst>
          </p:cNvPr>
          <p:cNvSpPr>
            <a:spLocks noGrp="1"/>
          </p:cNvSpPr>
          <p:nvPr/>
        </p:nvSpPr>
        <p:spPr>
          <a:xfrm>
            <a:off x="1314450" y="31623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23384E"/>
                </a:solidFill>
              </a:defRPr>
            </a:pPr>
            <a:r>
              <a:rPr sz="1200" b="1" i="0">
                <a:solidFill>
                  <a:srgbClr val="23384E"/>
                </a:solidFill>
              </a:rPr>
              <a:t>prob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37233B-2346-469F-962D-11CDC2A39C6C}"/>
              </a:ext>
            </a:extLst>
          </p:cNvPr>
          <p:cNvSpPr>
            <a:spLocks noGrp="1"/>
          </p:cNvSpPr>
          <p:nvPr/>
        </p:nvSpPr>
        <p:spPr>
          <a:xfrm>
            <a:off x="3486150" y="31623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nspace 1000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AFAD54-1B70-4721-9FD3-8B07CDB8F6B6}"/>
              </a:ext>
            </a:extLst>
          </p:cNvPr>
          <p:cNvSpPr>
            <a:spLocks noGrp="1"/>
          </p:cNvSpPr>
          <p:nvPr/>
        </p:nvSpPr>
        <p:spPr>
          <a:xfrm>
            <a:off x="5067300" y="316230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17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66C1F0-C05A-4631-A017-044C5B0D92CE}"/>
              </a:ext>
            </a:extLst>
          </p:cNvPr>
          <p:cNvSpPr>
            <a:spLocks noGrp="1"/>
          </p:cNvSpPr>
          <p:nvPr/>
        </p:nvSpPr>
        <p:spPr>
          <a:xfrm>
            <a:off x="6115050" y="31242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0" i="0">
                <a:solidFill>
                  <a:srgbClr val="23384E"/>
                </a:solidFill>
              </a:defRPr>
            </a:pPr>
            <a:r>
              <a:rPr sz="1088" b="0" i="0" dirty="0">
                <a:solidFill>
                  <a:srgbClr val="23384E"/>
                </a:solidFill>
              </a:rPr>
              <a:t>begin probabilistic pre-alignment without neighborhood restriction; ML regularization and conical FSC can turn on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26BE4A5-201D-4715-9B39-A06CFDF7ABB5}"/>
              </a:ext>
            </a:extLst>
          </p:cNvPr>
          <p:cNvSpPr>
            <a:spLocks noGrp="1"/>
          </p:cNvSpPr>
          <p:nvPr/>
        </p:nvSpPr>
        <p:spPr>
          <a:xfrm>
            <a:off x="514350" y="3505200"/>
            <a:ext cx="111633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0AEF459-C724-4896-BBF6-090F3001F150}"/>
              </a:ext>
            </a:extLst>
          </p:cNvPr>
          <p:cNvSpPr>
            <a:spLocks noGrp="1"/>
          </p:cNvSpPr>
          <p:nvPr/>
        </p:nvSpPr>
        <p:spPr>
          <a:xfrm>
            <a:off x="514350" y="3505200"/>
            <a:ext cx="95250" cy="47625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9A1DA6-33D7-49C9-AC1C-8019F2CA7812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E2841"/>
                </a:solidFill>
              </a:defRPr>
            </a:pPr>
            <a:r>
              <a:rPr sz="1200" b="1" i="0">
                <a:solidFill>
                  <a:srgbClr val="0E2841"/>
                </a:solidFill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61D06E-6DA3-4A0A-A887-6BAF621341A5}"/>
              </a:ext>
            </a:extLst>
          </p:cNvPr>
          <p:cNvSpPr>
            <a:spLocks noGrp="1"/>
          </p:cNvSpPr>
          <p:nvPr/>
        </p:nvSpPr>
        <p:spPr>
          <a:xfrm>
            <a:off x="1314450" y="36385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23384E"/>
                </a:solidFill>
              </a:defRPr>
            </a:pPr>
            <a:r>
              <a:rPr sz="1200" b="1" i="0">
                <a:solidFill>
                  <a:srgbClr val="23384E"/>
                </a:solidFill>
              </a:rPr>
              <a:t>prob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53365B-AF7E-482A-97B1-5EC9AA294456}"/>
              </a:ext>
            </a:extLst>
          </p:cNvPr>
          <p:cNvSpPr>
            <a:spLocks noGrp="1"/>
          </p:cNvSpPr>
          <p:nvPr/>
        </p:nvSpPr>
        <p:spPr>
          <a:xfrm>
            <a:off x="3486150" y="36385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nspace 1000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C3132A-2A5D-404C-B0BE-E26266D59629}"/>
              </a:ext>
            </a:extLst>
          </p:cNvPr>
          <p:cNvSpPr>
            <a:spLocks noGrp="1"/>
          </p:cNvSpPr>
          <p:nvPr/>
        </p:nvSpPr>
        <p:spPr>
          <a:xfrm>
            <a:off x="5067300" y="36385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17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0B220F-3F87-4985-952A-F8563FE32628}"/>
              </a:ext>
            </a:extLst>
          </p:cNvPr>
          <p:cNvSpPr>
            <a:spLocks noGrp="1"/>
          </p:cNvSpPr>
          <p:nvPr/>
        </p:nvSpPr>
        <p:spPr>
          <a:xfrm>
            <a:off x="6115050" y="360045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0" i="0">
                <a:solidFill>
                  <a:srgbClr val="23384E"/>
                </a:solidFill>
              </a:defRPr>
            </a:pPr>
            <a:r>
              <a:rPr sz="1088" b="0" i="0">
                <a:solidFill>
                  <a:srgbClr val="23384E"/>
                </a:solidFill>
              </a:rPr>
              <a:t>stabilize single-state map; independent mode starts balanced stochastic sampling here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9E1C9D9-7632-454C-82E6-3AB796F067ED}"/>
              </a:ext>
            </a:extLst>
          </p:cNvPr>
          <p:cNvSpPr>
            <a:spLocks noGrp="1"/>
          </p:cNvSpPr>
          <p:nvPr/>
        </p:nvSpPr>
        <p:spPr>
          <a:xfrm>
            <a:off x="514350" y="3981450"/>
            <a:ext cx="111633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D636399-004D-41BF-820E-4FD98C3C214F}"/>
              </a:ext>
            </a:extLst>
          </p:cNvPr>
          <p:cNvSpPr>
            <a:spLocks noGrp="1"/>
          </p:cNvSpPr>
          <p:nvPr/>
        </p:nvSpPr>
        <p:spPr>
          <a:xfrm>
            <a:off x="514350" y="3981450"/>
            <a:ext cx="95250" cy="47625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F01763-166C-4847-BD2D-62D699E91D8B}"/>
              </a:ext>
            </a:extLst>
          </p:cNvPr>
          <p:cNvSpPr>
            <a:spLocks noGrp="1"/>
          </p:cNvSpPr>
          <p:nvPr/>
        </p:nvSpPr>
        <p:spPr>
          <a:xfrm>
            <a:off x="742950" y="41148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E2841"/>
                </a:solidFill>
              </a:defRPr>
            </a:pPr>
            <a:r>
              <a:rPr sz="1200" b="1" i="0">
                <a:solidFill>
                  <a:srgbClr val="0E2841"/>
                </a:solidFill>
              </a:rPr>
              <a:t>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24E91-9A43-4A61-8E0B-CF0BA2D0E400}"/>
              </a:ext>
            </a:extLst>
          </p:cNvPr>
          <p:cNvSpPr>
            <a:spLocks noGrp="1"/>
          </p:cNvSpPr>
          <p:nvPr/>
        </p:nvSpPr>
        <p:spPr>
          <a:xfrm>
            <a:off x="1314450" y="41148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23384E"/>
                </a:solidFill>
              </a:defRPr>
            </a:pPr>
            <a:r>
              <a:rPr sz="1200" b="1" i="0">
                <a:solidFill>
                  <a:srgbClr val="23384E"/>
                </a:solidFill>
              </a:rPr>
              <a:t>prob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3FA4033-771D-431F-A912-9B1004F102AA}"/>
              </a:ext>
            </a:extLst>
          </p:cNvPr>
          <p:cNvSpPr>
            <a:spLocks noGrp="1"/>
          </p:cNvSpPr>
          <p:nvPr/>
        </p:nvSpPr>
        <p:spPr>
          <a:xfrm>
            <a:off x="3486150" y="41148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nspace 2500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72D8F8-DF50-41A6-A579-054A3FDE3119}"/>
              </a:ext>
            </a:extLst>
          </p:cNvPr>
          <p:cNvSpPr>
            <a:spLocks noGrp="1"/>
          </p:cNvSpPr>
          <p:nvPr/>
        </p:nvSpPr>
        <p:spPr>
          <a:xfrm>
            <a:off x="5067300" y="411480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17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4E8ED1D-4F3C-4C19-A56E-16F0E7F5E92D}"/>
              </a:ext>
            </a:extLst>
          </p:cNvPr>
          <p:cNvSpPr>
            <a:spLocks noGrp="1"/>
          </p:cNvSpPr>
          <p:nvPr/>
        </p:nvSpPr>
        <p:spPr>
          <a:xfrm>
            <a:off x="6115050" y="40767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0" i="0">
                <a:solidFill>
                  <a:srgbClr val="23384E"/>
                </a:solidFill>
              </a:defRPr>
            </a:pPr>
            <a:r>
              <a:rPr sz="1088" b="0" i="0">
                <a:solidFill>
                  <a:srgbClr val="23384E"/>
                </a:solidFill>
              </a:rPr>
              <a:t>expand orientation space; single-state trailing reconstruction and update-fraction policy begin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5F2C63C1-A1DF-4C53-B1CC-C5D0D0AB4244}"/>
              </a:ext>
            </a:extLst>
          </p:cNvPr>
          <p:cNvSpPr>
            <a:spLocks noGrp="1"/>
          </p:cNvSpPr>
          <p:nvPr/>
        </p:nvSpPr>
        <p:spPr>
          <a:xfrm>
            <a:off x="514350" y="4457700"/>
            <a:ext cx="111633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B631F3E5-D2D0-4949-B714-1DBA7E2DD947}"/>
              </a:ext>
            </a:extLst>
          </p:cNvPr>
          <p:cNvSpPr>
            <a:spLocks noGrp="1"/>
          </p:cNvSpPr>
          <p:nvPr/>
        </p:nvSpPr>
        <p:spPr>
          <a:xfrm>
            <a:off x="514350" y="4457700"/>
            <a:ext cx="95250" cy="476250"/>
          </a:xfrm>
          <a:prstGeom prst="roundRect">
            <a:avLst>
              <a:gd name="adj" fmla="val 50000"/>
            </a:avLst>
          </a:prstGeom>
          <a:solidFill>
            <a:srgbClr val="196B24"/>
          </a:solidFill>
          <a:ln w="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F424B75-2581-4CC7-BD73-971CF41E8D4F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E2841"/>
                </a:solidFill>
              </a:defRPr>
            </a:pPr>
            <a:r>
              <a:rPr sz="1200" b="1" i="0">
                <a:solidFill>
                  <a:srgbClr val="0E2841"/>
                </a:solidFill>
              </a:rPr>
              <a:t>6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6145E84-4FF0-47D8-80E9-682B9C9A90D5}"/>
              </a:ext>
            </a:extLst>
          </p:cNvPr>
          <p:cNvSpPr>
            <a:spLocks noGrp="1"/>
          </p:cNvSpPr>
          <p:nvPr/>
        </p:nvSpPr>
        <p:spPr>
          <a:xfrm>
            <a:off x="1314450" y="45910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23384E"/>
                </a:solidFill>
              </a:defRPr>
            </a:pPr>
            <a:r>
              <a:rPr sz="1200" b="1" i="0">
                <a:solidFill>
                  <a:srgbClr val="23384E"/>
                </a:solidFill>
              </a:rPr>
              <a:t>prob_neigh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BCAD750-F775-4FD8-A35E-48D6F70463E8}"/>
              </a:ext>
            </a:extLst>
          </p:cNvPr>
          <p:cNvSpPr>
            <a:spLocks noGrp="1"/>
          </p:cNvSpPr>
          <p:nvPr/>
        </p:nvSpPr>
        <p:spPr>
          <a:xfrm>
            <a:off x="3486150" y="45910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nspace 2500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E61CC7-3E68-40B8-89A7-2A806B4E8AB0}"/>
              </a:ext>
            </a:extLst>
          </p:cNvPr>
          <p:cNvSpPr>
            <a:spLocks noGrp="1"/>
          </p:cNvSpPr>
          <p:nvPr/>
        </p:nvSpPr>
        <p:spPr>
          <a:xfrm>
            <a:off x="5067300" y="4591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15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1AB922D-9BD0-49B0-B065-83EDC492611F}"/>
              </a:ext>
            </a:extLst>
          </p:cNvPr>
          <p:cNvSpPr>
            <a:spLocks noGrp="1"/>
          </p:cNvSpPr>
          <p:nvPr/>
        </p:nvSpPr>
        <p:spPr>
          <a:xfrm>
            <a:off x="6115050" y="455295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0" i="0">
                <a:solidFill>
                  <a:srgbClr val="23384E"/>
                </a:solidFill>
              </a:defRPr>
            </a:pPr>
            <a:r>
              <a:rPr sz="1088" b="0" i="0">
                <a:solidFill>
                  <a:srgbClr val="23384E"/>
                </a:solidFill>
              </a:rPr>
              <a:t>late neighborhood refinement; nonuniform_lpset filtering begins when NU mode is active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2373439-B6CA-46EF-B208-F989E3C60F2F}"/>
              </a:ext>
            </a:extLst>
          </p:cNvPr>
          <p:cNvSpPr>
            <a:spLocks noGrp="1"/>
          </p:cNvSpPr>
          <p:nvPr/>
        </p:nvSpPr>
        <p:spPr>
          <a:xfrm>
            <a:off x="514350" y="4933950"/>
            <a:ext cx="111633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DF5EFE3D-AC47-4E4F-9B49-2933C2BEC563}"/>
              </a:ext>
            </a:extLst>
          </p:cNvPr>
          <p:cNvSpPr>
            <a:spLocks noGrp="1"/>
          </p:cNvSpPr>
          <p:nvPr/>
        </p:nvSpPr>
        <p:spPr>
          <a:xfrm>
            <a:off x="514350" y="4933950"/>
            <a:ext cx="95250" cy="476250"/>
          </a:xfrm>
          <a:prstGeom prst="roundRect">
            <a:avLst>
              <a:gd name="adj" fmla="val 50000"/>
            </a:avLst>
          </a:prstGeom>
          <a:solidFill>
            <a:srgbClr val="196B24"/>
          </a:solidFill>
          <a:ln w="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5FEDF71-1755-47DA-8B88-3F8D6C96B6B0}"/>
              </a:ext>
            </a:extLst>
          </p:cNvPr>
          <p:cNvSpPr>
            <a:spLocks noGrp="1"/>
          </p:cNvSpPr>
          <p:nvPr/>
        </p:nvSpPr>
        <p:spPr>
          <a:xfrm>
            <a:off x="742950" y="50673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E2841"/>
                </a:solidFill>
              </a:defRPr>
            </a:pPr>
            <a:r>
              <a:rPr sz="1200" b="1" i="0">
                <a:solidFill>
                  <a:srgbClr val="0E2841"/>
                </a:solidFill>
              </a:rPr>
              <a:t>7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21B7C06-C292-4BB2-BF3E-CC66DBDF1F82}"/>
              </a:ext>
            </a:extLst>
          </p:cNvPr>
          <p:cNvSpPr>
            <a:spLocks noGrp="1"/>
          </p:cNvSpPr>
          <p:nvPr/>
        </p:nvSpPr>
        <p:spPr>
          <a:xfrm>
            <a:off x="1314450" y="50673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23384E"/>
                </a:solidFill>
              </a:defRPr>
            </a:pPr>
            <a:r>
              <a:rPr sz="1200" b="1" i="0">
                <a:solidFill>
                  <a:srgbClr val="23384E"/>
                </a:solidFill>
              </a:rPr>
              <a:t>prob_neigh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09D8300-9947-446D-B4B5-8D243917AC82}"/>
              </a:ext>
            </a:extLst>
          </p:cNvPr>
          <p:cNvSpPr>
            <a:spLocks noGrp="1"/>
          </p:cNvSpPr>
          <p:nvPr/>
        </p:nvSpPr>
        <p:spPr>
          <a:xfrm>
            <a:off x="3486150" y="50673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nspace 5000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EA73939-08D2-4AAF-A8C2-AADD5301056C}"/>
              </a:ext>
            </a:extLst>
          </p:cNvPr>
          <p:cNvSpPr>
            <a:spLocks noGrp="1"/>
          </p:cNvSpPr>
          <p:nvPr/>
        </p:nvSpPr>
        <p:spPr>
          <a:xfrm>
            <a:off x="5067300" y="506730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15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AB41A46-E6F6-4620-B75C-6C824CA84CAA}"/>
              </a:ext>
            </a:extLst>
          </p:cNvPr>
          <p:cNvSpPr>
            <a:spLocks noGrp="1"/>
          </p:cNvSpPr>
          <p:nvPr/>
        </p:nvSpPr>
        <p:spPr>
          <a:xfrm>
            <a:off x="6115050" y="50292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0" i="0">
                <a:solidFill>
                  <a:srgbClr val="23384E"/>
                </a:solidFill>
              </a:defRPr>
            </a:pPr>
            <a:r>
              <a:rPr sz="1088" b="0" i="0">
                <a:solidFill>
                  <a:srgbClr val="23384E"/>
                </a:solidFill>
              </a:rPr>
              <a:t>finer search; stronger late-stage selection via frac_best policy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A8E39FF6-C8C4-4C47-A261-C0E451438020}"/>
              </a:ext>
            </a:extLst>
          </p:cNvPr>
          <p:cNvSpPr>
            <a:spLocks noGrp="1"/>
          </p:cNvSpPr>
          <p:nvPr/>
        </p:nvSpPr>
        <p:spPr>
          <a:xfrm>
            <a:off x="514350" y="5410200"/>
            <a:ext cx="111633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AE9DEC79-4ADD-4135-BD59-D8B7A93AD9F3}"/>
              </a:ext>
            </a:extLst>
          </p:cNvPr>
          <p:cNvSpPr>
            <a:spLocks noGrp="1"/>
          </p:cNvSpPr>
          <p:nvPr/>
        </p:nvSpPr>
        <p:spPr>
          <a:xfrm>
            <a:off x="514350" y="5410200"/>
            <a:ext cx="95250" cy="47625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5C50ABF-0CD4-4745-BF99-9740F5C981E6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E2841"/>
                </a:solidFill>
              </a:defRPr>
            </a:pPr>
            <a:r>
              <a:rPr sz="1200" b="1" i="0">
                <a:solidFill>
                  <a:srgbClr val="0E2841"/>
                </a:solidFill>
              </a:rPr>
              <a:t>8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AC8EFA7-AE1B-486A-88CE-207E39166001}"/>
              </a:ext>
            </a:extLst>
          </p:cNvPr>
          <p:cNvSpPr>
            <a:spLocks noGrp="1"/>
          </p:cNvSpPr>
          <p:nvPr/>
        </p:nvSpPr>
        <p:spPr>
          <a:xfrm>
            <a:off x="1314450" y="55435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23384E"/>
                </a:solidFill>
              </a:defRPr>
            </a:pPr>
            <a:r>
              <a:rPr sz="1200" b="1" i="0">
                <a:solidFill>
                  <a:srgbClr val="23384E"/>
                </a:solidFill>
              </a:rPr>
              <a:t>prob_neigh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2127A07-F342-44BE-AD36-DB154E784447}"/>
              </a:ext>
            </a:extLst>
          </p:cNvPr>
          <p:cNvSpPr>
            <a:spLocks noGrp="1"/>
          </p:cNvSpPr>
          <p:nvPr/>
        </p:nvSpPr>
        <p:spPr>
          <a:xfrm>
            <a:off x="3486150" y="55435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nspace 5000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28DEF98-D715-4F23-9596-3C11AFE75551}"/>
              </a:ext>
            </a:extLst>
          </p:cNvPr>
          <p:cNvSpPr>
            <a:spLocks noGrp="1"/>
          </p:cNvSpPr>
          <p:nvPr/>
        </p:nvSpPr>
        <p:spPr>
          <a:xfrm>
            <a:off x="5067300" y="55435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30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4FB98C1-813E-453E-8900-1C1FEB8437B6}"/>
              </a:ext>
            </a:extLst>
          </p:cNvPr>
          <p:cNvSpPr>
            <a:spLocks noGrp="1"/>
          </p:cNvSpPr>
          <p:nvPr/>
        </p:nvSpPr>
        <p:spPr>
          <a:xfrm>
            <a:off x="6115050" y="550545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0" i="0">
                <a:solidFill>
                  <a:srgbClr val="23384E"/>
                </a:solidFill>
              </a:defRPr>
            </a:pPr>
            <a:r>
              <a:rPr sz="1088" b="0" i="0">
                <a:solidFill>
                  <a:srgbClr val="23384E"/>
                </a:solidFill>
              </a:rPr>
              <a:t>final staged refinement; automasking can start before final reconstruction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5BA36A1-A5C8-4D29-A3EE-2523E1FF9EFB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5A6A7C"/>
                </a:solidFill>
              </a:defRPr>
            </a:pPr>
            <a:r>
              <a:rPr sz="825" b="0" i="0">
                <a:solidFill>
                  <a:srgbClr val="5A6A7C"/>
                </a:solidFill>
              </a:rPr>
              <a:t>Exact values shown are current defaults in simple_abinitio_controller.f90.</a:t>
            </a:r>
          </a:p>
        </p:txBody>
      </p:sp>
    </p:spTree>
    <p:extLst>
      <p:ext uri="{BB962C8B-B14F-4D97-AF65-F5344CB8AC3E}">
        <p14:creationId xmlns:p14="http://schemas.microsoft.com/office/powerpoint/2010/main" val="1057317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18BAD44-51F4-4B9D-B63E-F91A7C9AB1D6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E97132"/>
                </a:solidFill>
              </a:defRPr>
            </a:pPr>
            <a:r>
              <a:rPr sz="900" b="1" i="0">
                <a:solidFill>
                  <a:srgbClr val="E97132"/>
                </a:solidFill>
              </a:rPr>
              <a:t>SIMPLE ABINITIO3D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2D72AA-5E2E-4C89-B648-D438FC901770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885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 i="0">
                <a:solidFill>
                  <a:srgbClr val="0E2841"/>
                </a:solidFill>
              </a:defRPr>
            </a:pPr>
            <a:r>
              <a:rPr sz="2700" b="1" i="0">
                <a:solidFill>
                  <a:srgbClr val="0E2841"/>
                </a:solidFill>
              </a:rPr>
              <a:t>Optimization: proposals to hard updates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9AA810-AF1F-4506-9050-D285D05D7846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5A6A7C"/>
                </a:solidFill>
              </a:defRPr>
            </a:pPr>
            <a:r>
              <a:rPr sz="1050" b="1" i="0">
                <a:solidFill>
                  <a:srgbClr val="5A6A7C"/>
                </a:solidFill>
              </a:rPr>
              <a:t>05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E7B34B4-5FA6-4934-B614-D995ABCD7DC4}"/>
              </a:ext>
            </a:extLst>
          </p:cNvPr>
          <p:cNvSpPr>
            <a:spLocks noGrp="1"/>
          </p:cNvSpPr>
          <p:nvPr/>
        </p:nvSpPr>
        <p:spPr>
          <a:xfrm>
            <a:off x="514350" y="1371600"/>
            <a:ext cx="11163300" cy="0"/>
          </a:xfrm>
          <a:prstGeom prst="line">
            <a:avLst/>
          </a:prstGeom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077E7A9-0908-4F2C-8252-87870F206F31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33337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67ED55D-EA89-497D-8E0C-FDB3D15052BE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E79616-2DD0-45EA-822A-3321F00FB26C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Objective and scoring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38EC6A-5400-458E-BB27-F28DF6952187}"/>
              </a:ext>
            </a:extLst>
          </p:cNvPr>
          <p:cNvSpPr>
            <a:spLocks noGrp="1"/>
          </p:cNvSpPr>
          <p:nvPr/>
        </p:nvSpPr>
        <p:spPr>
          <a:xfrm>
            <a:off x="876300" y="2228849"/>
            <a:ext cx="2914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 dirty="0" err="1">
                <a:solidFill>
                  <a:srgbClr val="23384E"/>
                </a:solidFill>
              </a:rPr>
              <a:t>objfun</a:t>
            </a:r>
            <a:r>
              <a:rPr sz="1350" b="0" i="0" dirty="0">
                <a:solidFill>
                  <a:srgbClr val="23384E"/>
                </a:solidFill>
              </a:rPr>
              <a:t> is Euclidean; sigma estimation is global. The search step scores candidate orientations, shifts, and states against the current reference model.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C836EA5-BEF3-4471-82F6-6B981C9341AF}"/>
              </a:ext>
            </a:extLst>
          </p:cNvPr>
          <p:cNvSpPr>
            <a:spLocks noGrp="1"/>
          </p:cNvSpPr>
          <p:nvPr/>
        </p:nvSpPr>
        <p:spPr>
          <a:xfrm>
            <a:off x="4429125" y="1752600"/>
            <a:ext cx="33337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3DB87E9-AC8F-444A-915A-179EB7CE5134}"/>
              </a:ext>
            </a:extLst>
          </p:cNvPr>
          <p:cNvSpPr>
            <a:spLocks noGrp="1"/>
          </p:cNvSpPr>
          <p:nvPr/>
        </p:nvSpPr>
        <p:spPr>
          <a:xfrm>
            <a:off x="4429125" y="17526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F5E335-1884-4A00-98BE-22DB2A826655}"/>
              </a:ext>
            </a:extLst>
          </p:cNvPr>
          <p:cNvSpPr>
            <a:spLocks noGrp="1"/>
          </p:cNvSpPr>
          <p:nvPr/>
        </p:nvSpPr>
        <p:spPr>
          <a:xfrm>
            <a:off x="4638675" y="1924050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prob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055F0C-B570-492D-95DD-96136D63B706}"/>
              </a:ext>
            </a:extLst>
          </p:cNvPr>
          <p:cNvSpPr>
            <a:spLocks noGrp="1"/>
          </p:cNvSpPr>
          <p:nvPr/>
        </p:nvSpPr>
        <p:spPr>
          <a:xfrm>
            <a:off x="4638675" y="2343150"/>
            <a:ext cx="2914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Build a probabilistic pre-alignment table, then perform the hard-assignment update from the sampled candidate space.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5AA1115-1828-4386-B124-79FA5BD527A5}"/>
              </a:ext>
            </a:extLst>
          </p:cNvPr>
          <p:cNvSpPr>
            <a:spLocks noGrp="1"/>
          </p:cNvSpPr>
          <p:nvPr/>
        </p:nvSpPr>
        <p:spPr>
          <a:xfrm>
            <a:off x="8191500" y="1752600"/>
            <a:ext cx="33337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C326E5E-5689-455C-AE25-314E5CBC663A}"/>
              </a:ext>
            </a:extLst>
          </p:cNvPr>
          <p:cNvSpPr>
            <a:spLocks noGrp="1"/>
          </p:cNvSpPr>
          <p:nvPr/>
        </p:nvSpPr>
        <p:spPr>
          <a:xfrm>
            <a:off x="8191500" y="17526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96B24"/>
          </a:solidFill>
          <a:ln w="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9CB43D-37F3-42CA-AE43-D817327270C4}"/>
              </a:ext>
            </a:extLst>
          </p:cNvPr>
          <p:cNvSpPr>
            <a:spLocks noGrp="1"/>
          </p:cNvSpPr>
          <p:nvPr/>
        </p:nvSpPr>
        <p:spPr>
          <a:xfrm>
            <a:off x="8401050" y="1924050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prob_neigh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819379-98C2-44EB-9DA6-0A07F94AA2C0}"/>
              </a:ext>
            </a:extLst>
          </p:cNvPr>
          <p:cNvSpPr>
            <a:spLocks noGrp="1"/>
          </p:cNvSpPr>
          <p:nvPr/>
        </p:nvSpPr>
        <p:spPr>
          <a:xfrm>
            <a:off x="8401050" y="2343150"/>
            <a:ext cx="2914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Restrict probabilistic proposals through neighborhood policy. This reduces the candidate space once a useful neighborhood signal exists.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C5FE8FD-A4AF-4F2B-839D-5570FC3737D8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9525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A3FB214-DF2F-4B71-9FBD-B0882F3219B3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EF297B-9D60-40C3-8992-DB7EC3D34307}"/>
              </a:ext>
            </a:extLst>
          </p:cNvPr>
          <p:cNvSpPr>
            <a:spLocks noGrp="1"/>
          </p:cNvSpPr>
          <p:nvPr/>
        </p:nvSpPr>
        <p:spPr>
          <a:xfrm>
            <a:off x="1543050" y="4095750"/>
            <a:ext cx="9105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Mode sequence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F89D0F-8076-42AF-A8DC-5605D11DDF29}"/>
              </a:ext>
            </a:extLst>
          </p:cNvPr>
          <p:cNvSpPr>
            <a:spLocks noGrp="1"/>
          </p:cNvSpPr>
          <p:nvPr/>
        </p:nvSpPr>
        <p:spPr>
          <a:xfrm>
            <a:off x="1543050" y="4514850"/>
            <a:ext cx="9105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 i="0">
                <a:solidFill>
                  <a:srgbClr val="23384E"/>
                </a:solidFill>
              </a:defRPr>
            </a:pPr>
            <a:r>
              <a:rPr sz="1500" b="0" i="0">
                <a:solidFill>
                  <a:srgbClr val="23384E"/>
                </a:solidFill>
              </a:rPr>
              <a:t>stage 1 snhc -&gt; stage 2 shc -&gt; stages 3-5 prob -&gt; stages 6-8 prob_neigh/state or prob_neigh/sum.</a:t>
            </a:r>
          </a:p>
          <a:p>
            <a:pPr>
              <a:defRPr sz="1500" b="0" i="0">
                <a:solidFill>
                  <a:srgbClr val="23384E"/>
                </a:solidFill>
              </a:defRPr>
            </a:pPr>
            <a:r>
              <a:rPr sz="1500" b="0" i="0">
                <a:solidFill>
                  <a:srgbClr val="23384E"/>
                </a:solidFill>
              </a:rPr>
              <a:t>For the membrane-protein regression, starting stage 3 as prob is the policy knob under direct scrutiny.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2F2F84-A920-4682-9578-6DBF69ED994F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5A6A7C"/>
                </a:solidFill>
              </a:defRPr>
            </a:pPr>
            <a:r>
              <a:rPr sz="825" b="0" i="0">
                <a:solidFill>
                  <a:srgbClr val="5A6A7C"/>
                </a:solidFill>
              </a:rPr>
              <a:t>Draft technical introduction for development discussion</a:t>
            </a:r>
          </a:p>
        </p:txBody>
      </p:sp>
    </p:spTree>
    <p:extLst>
      <p:ext uri="{BB962C8B-B14F-4D97-AF65-F5344CB8AC3E}">
        <p14:creationId xmlns:p14="http://schemas.microsoft.com/office/powerpoint/2010/main" val="1260071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4F3EA13-47D7-4061-9BCE-2BEC45822E68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E97132"/>
                </a:solidFill>
              </a:defRPr>
            </a:pPr>
            <a:r>
              <a:rPr sz="900" b="1" i="0">
                <a:solidFill>
                  <a:srgbClr val="E97132"/>
                </a:solidFill>
              </a:rPr>
              <a:t>SIMPLE ABINITIO3D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05798F-9489-47E4-995B-C9116A165845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885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 i="0">
                <a:solidFill>
                  <a:srgbClr val="0E2841"/>
                </a:solidFill>
              </a:defRPr>
            </a:pPr>
            <a:r>
              <a:rPr sz="2700" b="1" i="0">
                <a:solidFill>
                  <a:srgbClr val="0E2841"/>
                </a:solidFill>
              </a:rPr>
              <a:t>Search parameters: coarse first, broader later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1A2F6-315E-4B75-8164-51510E0491F4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5A6A7C"/>
                </a:solidFill>
              </a:defRPr>
            </a:pPr>
            <a:r>
              <a:rPr sz="1050" b="1" i="0">
                <a:solidFill>
                  <a:srgbClr val="5A6A7C"/>
                </a:solidFill>
              </a:rPr>
              <a:t>06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28A7C32-3D84-4414-AA62-0C1872E70BF8}"/>
              </a:ext>
            </a:extLst>
          </p:cNvPr>
          <p:cNvSpPr>
            <a:spLocks noGrp="1"/>
          </p:cNvSpPr>
          <p:nvPr/>
        </p:nvSpPr>
        <p:spPr>
          <a:xfrm>
            <a:off x="514350" y="1371600"/>
            <a:ext cx="11163300" cy="0"/>
          </a:xfrm>
          <a:prstGeom prst="line">
            <a:avLst/>
          </a:prstGeom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A04134D-196B-4B13-B940-D35E372B6F64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257175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BABFC2A-B3D0-4E6B-A1DD-4D058E96C007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76200" cy="167640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78FA62-83B9-4DD9-B875-AF7AAFE7560F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2152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Orientation space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645BA2-E893-4E62-ABE1-EB760C833EF5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21526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nspace: 1000 in stages 1-4, 2500 in stages 5-6, 5000 in stages 7-8.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3CFA40-5E8C-4C20-A5EC-5831C058198C}"/>
              </a:ext>
            </a:extLst>
          </p:cNvPr>
          <p:cNvSpPr>
            <a:spLocks noGrp="1"/>
          </p:cNvSpPr>
          <p:nvPr/>
        </p:nvSpPr>
        <p:spPr>
          <a:xfrm>
            <a:off x="3524250" y="1752600"/>
            <a:ext cx="257175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9B54F91-7012-46AA-AA86-E68BD3FC204E}"/>
              </a:ext>
            </a:extLst>
          </p:cNvPr>
          <p:cNvSpPr>
            <a:spLocks noGrp="1"/>
          </p:cNvSpPr>
          <p:nvPr/>
        </p:nvSpPr>
        <p:spPr>
          <a:xfrm>
            <a:off x="3524250" y="1752600"/>
            <a:ext cx="76200" cy="167640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4C02C7-7296-4BE0-AFE7-1ADFFAEC9300}"/>
              </a:ext>
            </a:extLst>
          </p:cNvPr>
          <p:cNvSpPr>
            <a:spLocks noGrp="1"/>
          </p:cNvSpPr>
          <p:nvPr/>
        </p:nvSpPr>
        <p:spPr>
          <a:xfrm>
            <a:off x="3733800" y="1924050"/>
            <a:ext cx="2152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Translations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AA2ABB-D03B-4B1D-B7D6-44357225C769}"/>
              </a:ext>
            </a:extLst>
          </p:cNvPr>
          <p:cNvSpPr>
            <a:spLocks noGrp="1"/>
          </p:cNvSpPr>
          <p:nvPr/>
        </p:nvSpPr>
        <p:spPr>
          <a:xfrm>
            <a:off x="3733800" y="2343150"/>
            <a:ext cx="21526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trs is zero in stages 1-2. Later limits come from lpinfo and sampling/cropping policy.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524926F-4586-45AD-B875-ECDAC693558D}"/>
              </a:ext>
            </a:extLst>
          </p:cNvPr>
          <p:cNvSpPr>
            <a:spLocks noGrp="1"/>
          </p:cNvSpPr>
          <p:nvPr/>
        </p:nvSpPr>
        <p:spPr>
          <a:xfrm>
            <a:off x="6381750" y="1752600"/>
            <a:ext cx="257175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8E4BE76-B6E5-472A-BB41-85482B29DF31}"/>
              </a:ext>
            </a:extLst>
          </p:cNvPr>
          <p:cNvSpPr>
            <a:spLocks noGrp="1"/>
          </p:cNvSpPr>
          <p:nvPr/>
        </p:nvSpPr>
        <p:spPr>
          <a:xfrm>
            <a:off x="6381750" y="1752600"/>
            <a:ext cx="76200" cy="1676400"/>
          </a:xfrm>
          <a:prstGeom prst="roundRect">
            <a:avLst>
              <a:gd name="adj" fmla="val 50000"/>
            </a:avLst>
          </a:prstGeom>
          <a:solidFill>
            <a:srgbClr val="196B24"/>
          </a:solidFill>
          <a:ln w="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8E7419-786C-4BDB-A3D6-5874D146290C}"/>
              </a:ext>
            </a:extLst>
          </p:cNvPr>
          <p:cNvSpPr>
            <a:spLocks noGrp="1"/>
          </p:cNvSpPr>
          <p:nvPr/>
        </p:nvSpPr>
        <p:spPr>
          <a:xfrm>
            <a:off x="6591300" y="1924050"/>
            <a:ext cx="2152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Selection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285CF0-5231-420B-82B6-2F7D7FEC2300}"/>
              </a:ext>
            </a:extLst>
          </p:cNvPr>
          <p:cNvSpPr>
            <a:spLocks noGrp="1"/>
          </p:cNvSpPr>
          <p:nvPr/>
        </p:nvSpPr>
        <p:spPr>
          <a:xfrm>
            <a:off x="6591300" y="2343150"/>
            <a:ext cx="21526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 dirty="0" err="1">
                <a:solidFill>
                  <a:srgbClr val="23384E"/>
                </a:solidFill>
              </a:rPr>
              <a:t>frac_best</a:t>
            </a:r>
            <a:r>
              <a:rPr sz="1200" b="0" i="0" dirty="0">
                <a:solidFill>
                  <a:srgbClr val="23384E"/>
                </a:solidFill>
              </a:rPr>
              <a:t> is </a:t>
            </a:r>
            <a:r>
              <a:rPr lang="en-US" sz="1200" b="0" i="0" dirty="0">
                <a:solidFill>
                  <a:srgbClr val="23384E"/>
                </a:solidFill>
              </a:rPr>
              <a:t>tight</a:t>
            </a:r>
            <a:r>
              <a:rPr sz="1200" b="0" i="0" dirty="0">
                <a:solidFill>
                  <a:srgbClr val="23384E"/>
                </a:solidFill>
              </a:rPr>
              <a:t> early, then </a:t>
            </a:r>
            <a:r>
              <a:rPr lang="en-US" sz="1200" b="0" i="0" dirty="0">
                <a:solidFill>
                  <a:srgbClr val="23384E"/>
                </a:solidFill>
              </a:rPr>
              <a:t>becomes more permissive </a:t>
            </a:r>
            <a:r>
              <a:rPr sz="1200" b="0" i="0" dirty="0">
                <a:solidFill>
                  <a:srgbClr val="23384E"/>
                </a:solidFill>
              </a:rPr>
              <a:t>from stage 5 in single-state runs.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4D8D8D9-9974-4219-8810-D2195492EAFF}"/>
              </a:ext>
            </a:extLst>
          </p:cNvPr>
          <p:cNvSpPr>
            <a:spLocks noGrp="1"/>
          </p:cNvSpPr>
          <p:nvPr/>
        </p:nvSpPr>
        <p:spPr>
          <a:xfrm>
            <a:off x="9239250" y="1752600"/>
            <a:ext cx="22860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A3AE4A7-50A8-4CB0-96DE-EC42B6E869F2}"/>
              </a:ext>
            </a:extLst>
          </p:cNvPr>
          <p:cNvSpPr>
            <a:spLocks noGrp="1"/>
          </p:cNvSpPr>
          <p:nvPr/>
        </p:nvSpPr>
        <p:spPr>
          <a:xfrm>
            <a:off x="9239250" y="1752600"/>
            <a:ext cx="76200" cy="1676400"/>
          </a:xfrm>
          <a:prstGeom prst="roundRect">
            <a:avLst>
              <a:gd name="adj" fmla="val 50000"/>
            </a:avLst>
          </a:prstGeom>
          <a:solidFill>
            <a:srgbClr val="C58B1B"/>
          </a:solidFill>
          <a:ln w="0">
            <a:solidFill>
              <a:srgbClr val="C58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D23D76-2FC6-414B-8604-CBA73FE8BFBA}"/>
              </a:ext>
            </a:extLst>
          </p:cNvPr>
          <p:cNvSpPr>
            <a:spLocks noGrp="1"/>
          </p:cNvSpPr>
          <p:nvPr/>
        </p:nvSpPr>
        <p:spPr>
          <a:xfrm>
            <a:off x="9448800" y="1924050"/>
            <a:ext cx="1866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Overlap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02853E-06C8-468E-9A5D-A1855BBEDFB1}"/>
              </a:ext>
            </a:extLst>
          </p:cNvPr>
          <p:cNvSpPr>
            <a:spLocks noGrp="1"/>
          </p:cNvSpPr>
          <p:nvPr/>
        </p:nvSpPr>
        <p:spPr>
          <a:xfrm>
            <a:off x="9448800" y="2343150"/>
            <a:ext cx="18669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3384E"/>
                </a:solidFill>
              </a:defRPr>
            </a:pPr>
            <a:r>
              <a:rPr sz="1200" b="0" i="0">
                <a:solidFill>
                  <a:srgbClr val="23384E"/>
                </a:solidFill>
              </a:rPr>
              <a:t>high early overlap stabilizes bootstrap search; late stages allow broader replacement.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248C56D-C0E0-46EC-8567-BAF8523F8D23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10477500" cy="1162050"/>
          </a:xfrm>
          <a:prstGeom prst="roundRect">
            <a:avLst>
              <a:gd name="adj" fmla="val 6557"/>
            </a:avLst>
          </a:prstGeom>
          <a:solidFill>
            <a:srgbClr val="F4F7FA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C07381-A0D4-49A2-9846-5BF960503755}"/>
              </a:ext>
            </a:extLst>
          </p:cNvPr>
          <p:cNvSpPr>
            <a:spLocks noGrp="1"/>
          </p:cNvSpPr>
          <p:nvPr/>
        </p:nvSpPr>
        <p:spPr>
          <a:xfrm>
            <a:off x="1143000" y="4257675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0E2841"/>
                </a:solidFill>
              </a:defRPr>
            </a:pPr>
            <a:r>
              <a:rPr sz="1650" b="1" i="0">
                <a:solidFill>
                  <a:srgbClr val="0E2841"/>
                </a:solidFill>
              </a:rPr>
              <a:t>Practical interpretation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F85912-B8E7-4164-8676-D34A01BDEEEC}"/>
              </a:ext>
            </a:extLst>
          </p:cNvPr>
          <p:cNvSpPr>
            <a:spLocks noGrp="1"/>
          </p:cNvSpPr>
          <p:nvPr/>
        </p:nvSpPr>
        <p:spPr>
          <a:xfrm>
            <a:off x="3714750" y="4191000"/>
            <a:ext cx="723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 i="0">
                <a:solidFill>
                  <a:srgbClr val="23384E"/>
                </a:solidFill>
              </a:defRPr>
            </a:pPr>
            <a:r>
              <a:rPr sz="1575" b="0" i="0">
                <a:solidFill>
                  <a:srgbClr val="23384E"/>
                </a:solidFill>
              </a:rPr>
              <a:t>Stages 1-2 are a controlled bootstrap. Stages 3-5 let probabilistic search operate without the late neighborhood restriction. Stages 6-8 spend more compute once the map and neighborhoods are informative.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558B41-82F5-465A-84BA-297FC86735BB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5A6A7C"/>
                </a:solidFill>
              </a:defRPr>
            </a:pPr>
            <a:r>
              <a:rPr sz="825" b="0" i="0">
                <a:solidFill>
                  <a:srgbClr val="5A6A7C"/>
                </a:solidFill>
              </a:rPr>
              <a:t>Draft technical introduction for development discussion</a:t>
            </a:r>
          </a:p>
        </p:txBody>
      </p:sp>
    </p:spTree>
    <p:extLst>
      <p:ext uri="{BB962C8B-B14F-4D97-AF65-F5344CB8AC3E}">
        <p14:creationId xmlns:p14="http://schemas.microsoft.com/office/powerpoint/2010/main" val="56193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12BD525-C340-4D56-978E-5CDDDB04E8E9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E97132"/>
                </a:solidFill>
              </a:defRPr>
            </a:pPr>
            <a:r>
              <a:rPr sz="900" b="1" i="0">
                <a:solidFill>
                  <a:srgbClr val="E97132"/>
                </a:solidFill>
              </a:rPr>
              <a:t>SIMPLE ABINITIO3D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88E9B7-6D98-4E9F-854A-60E18310A953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885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 i="0">
                <a:solidFill>
                  <a:srgbClr val="0E2841"/>
                </a:solidFill>
              </a:defRPr>
            </a:pPr>
            <a:r>
              <a:rPr sz="2700" b="1" i="0">
                <a:solidFill>
                  <a:srgbClr val="0E2841"/>
                </a:solidFill>
              </a:rPr>
              <a:t>Sampling and particle updates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FF25B0-F2D3-4453-A0CA-7496DDED42DF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5A6A7C"/>
                </a:solidFill>
              </a:defRPr>
            </a:pPr>
            <a:r>
              <a:rPr sz="1050" b="1" i="0">
                <a:solidFill>
                  <a:srgbClr val="5A6A7C"/>
                </a:solidFill>
              </a:rPr>
              <a:t>07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8C66B18-B209-4E17-989B-13CB99424E8C}"/>
              </a:ext>
            </a:extLst>
          </p:cNvPr>
          <p:cNvSpPr>
            <a:spLocks noGrp="1"/>
          </p:cNvSpPr>
          <p:nvPr/>
        </p:nvSpPr>
        <p:spPr>
          <a:xfrm>
            <a:off x="514350" y="1371600"/>
            <a:ext cx="11163300" cy="0"/>
          </a:xfrm>
          <a:prstGeom prst="line">
            <a:avLst/>
          </a:prstGeom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B68C6D-32F0-4BE0-8E78-6DDB2EFF2108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3190875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5171EB5-79DE-4144-ABF7-3D2A404023AD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76200" cy="171450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B2D2BB-5345-487B-B8AD-65812F20EF79}"/>
              </a:ext>
            </a:extLst>
          </p:cNvPr>
          <p:cNvSpPr>
            <a:spLocks noGrp="1"/>
          </p:cNvSpPr>
          <p:nvPr/>
        </p:nvSpPr>
        <p:spPr>
          <a:xfrm>
            <a:off x="876300" y="1885950"/>
            <a:ext cx="27717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Targeted subset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508091-3DE0-4E09-85D0-7242DD301741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771775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When nsample is smaller than the active particle count, abinitio3D emits update_frac/nsample and avoids updating every particle every stage.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7D0377D-E0EE-4AF4-A800-C571AF46A5F9}"/>
              </a:ext>
            </a:extLst>
          </p:cNvPr>
          <p:cNvSpPr>
            <a:spLocks noGrp="1"/>
          </p:cNvSpPr>
          <p:nvPr/>
        </p:nvSpPr>
        <p:spPr>
          <a:xfrm>
            <a:off x="4476750" y="1714500"/>
            <a:ext cx="3190875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6EF46FA-79BB-4AEF-8D78-AA7B4928AF74}"/>
              </a:ext>
            </a:extLst>
          </p:cNvPr>
          <p:cNvSpPr>
            <a:spLocks noGrp="1"/>
          </p:cNvSpPr>
          <p:nvPr/>
        </p:nvSpPr>
        <p:spPr>
          <a:xfrm>
            <a:off x="4476750" y="1714500"/>
            <a:ext cx="76200" cy="171450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A5786A-26D4-4C25-8098-135E13C571B1}"/>
              </a:ext>
            </a:extLst>
          </p:cNvPr>
          <p:cNvSpPr>
            <a:spLocks noGrp="1"/>
          </p:cNvSpPr>
          <p:nvPr/>
        </p:nvSpPr>
        <p:spPr>
          <a:xfrm>
            <a:off x="4686300" y="1885950"/>
            <a:ext cx="27717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Coverage guardrail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FD17C3-839E-4E90-9C36-7EB51EAA01DC}"/>
              </a:ext>
            </a:extLst>
          </p:cNvPr>
          <p:cNvSpPr>
            <a:spLocks noGrp="1"/>
          </p:cNvSpPr>
          <p:nvPr/>
        </p:nvSpPr>
        <p:spPr>
          <a:xfrm>
            <a:off x="4686300" y="2305050"/>
            <a:ext cx="2771775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The active ratio is capped near 0.9. Once nsample / active_particles exceeds that threshold, the controller switches to full-sampling mode.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40D9EE5-80B1-43F0-B69C-FBE8785E4C8B}"/>
              </a:ext>
            </a:extLst>
          </p:cNvPr>
          <p:cNvSpPr>
            <a:spLocks noGrp="1"/>
          </p:cNvSpPr>
          <p:nvPr/>
        </p:nvSpPr>
        <p:spPr>
          <a:xfrm>
            <a:off x="8286750" y="1714500"/>
            <a:ext cx="3190875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EB94BDF-16F0-419A-B986-720727D950AE}"/>
              </a:ext>
            </a:extLst>
          </p:cNvPr>
          <p:cNvSpPr>
            <a:spLocks noGrp="1"/>
          </p:cNvSpPr>
          <p:nvPr/>
        </p:nvSpPr>
        <p:spPr>
          <a:xfrm>
            <a:off x="8286750" y="1714500"/>
            <a:ext cx="76200" cy="1714500"/>
          </a:xfrm>
          <a:prstGeom prst="roundRect">
            <a:avLst>
              <a:gd name="adj" fmla="val 50000"/>
            </a:avLst>
          </a:prstGeom>
          <a:solidFill>
            <a:srgbClr val="196B24"/>
          </a:solidFill>
          <a:ln w="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842B58-87CC-4F2C-99FB-5D9F5CB00851}"/>
              </a:ext>
            </a:extLst>
          </p:cNvPr>
          <p:cNvSpPr>
            <a:spLocks noGrp="1"/>
          </p:cNvSpPr>
          <p:nvPr/>
        </p:nvSpPr>
        <p:spPr>
          <a:xfrm>
            <a:off x="8496300" y="1885950"/>
            <a:ext cx="27717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Full-sampling mode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F78D50-8011-4D92-BA1F-6F8D0180DF47}"/>
              </a:ext>
            </a:extLst>
          </p:cNvPr>
          <p:cNvSpPr>
            <a:spLocks noGrp="1"/>
          </p:cNvSpPr>
          <p:nvPr/>
        </p:nvSpPr>
        <p:spPr>
          <a:xfrm>
            <a:off x="8496300" y="2305050"/>
            <a:ext cx="2771775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update_frac, nsample, fillin, and trailing reconstruction are suppressed because all active particles are already in play.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C255FA6-DF54-470D-B1F3-29ED9AC29356}"/>
              </a:ext>
            </a:extLst>
          </p:cNvPr>
          <p:cNvSpPr>
            <a:spLocks noGrp="1"/>
          </p:cNvSpPr>
          <p:nvPr/>
        </p:nvSpPr>
        <p:spPr>
          <a:xfrm>
            <a:off x="1181100" y="4191000"/>
            <a:ext cx="98298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7FDEACA-1898-4C7B-A07D-C55308853DD0}"/>
              </a:ext>
            </a:extLst>
          </p:cNvPr>
          <p:cNvSpPr>
            <a:spLocks noGrp="1"/>
          </p:cNvSpPr>
          <p:nvPr/>
        </p:nvSpPr>
        <p:spPr>
          <a:xfrm>
            <a:off x="1466850" y="4419600"/>
            <a:ext cx="1524000" cy="32385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1EF03D-423A-4C3E-A5E9-25493DC3C267}"/>
              </a:ext>
            </a:extLst>
          </p:cNvPr>
          <p:cNvSpPr>
            <a:spLocks noGrp="1"/>
          </p:cNvSpPr>
          <p:nvPr/>
        </p:nvSpPr>
        <p:spPr>
          <a:xfrm>
            <a:off x="1543050" y="4495800"/>
            <a:ext cx="1371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sample subset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1880D1-408E-4379-993D-02924BEF1F45}"/>
              </a:ext>
            </a:extLst>
          </p:cNvPr>
          <p:cNvSpPr>
            <a:spLocks noGrp="1"/>
          </p:cNvSpPr>
          <p:nvPr/>
        </p:nvSpPr>
        <p:spPr>
          <a:xfrm>
            <a:off x="3190875" y="44577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5A6A7C"/>
                </a:solidFill>
              </a:defRPr>
            </a:pPr>
            <a:r>
              <a:rPr sz="1650" b="1" i="0">
                <a:solidFill>
                  <a:srgbClr val="5A6A7C"/>
                </a:solidFill>
              </a:rPr>
              <a:t>&gt;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9155E8C-B4D9-42EC-BA92-24172ED916D4}"/>
              </a:ext>
            </a:extLst>
          </p:cNvPr>
          <p:cNvSpPr>
            <a:spLocks noGrp="1"/>
          </p:cNvSpPr>
          <p:nvPr/>
        </p:nvSpPr>
        <p:spPr>
          <a:xfrm>
            <a:off x="3714750" y="441960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95C547-5575-4B1D-AF81-0C476F336F51}"/>
              </a:ext>
            </a:extLst>
          </p:cNvPr>
          <p:cNvSpPr>
            <a:spLocks noGrp="1"/>
          </p:cNvSpPr>
          <p:nvPr/>
        </p:nvSpPr>
        <p:spPr>
          <a:xfrm>
            <a:off x="3790950" y="4495800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update assignments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6141D1-7914-45DD-BEF4-4ACB5F91CF8B}"/>
              </a:ext>
            </a:extLst>
          </p:cNvPr>
          <p:cNvSpPr>
            <a:spLocks noGrp="1"/>
          </p:cNvSpPr>
          <p:nvPr/>
        </p:nvSpPr>
        <p:spPr>
          <a:xfrm>
            <a:off x="5734050" y="44577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5A6A7C"/>
                </a:solidFill>
              </a:defRPr>
            </a:pPr>
            <a:r>
              <a:rPr sz="1650" b="1" i="0">
                <a:solidFill>
                  <a:srgbClr val="5A6A7C"/>
                </a:solidFill>
              </a:rPr>
              <a:t>&gt;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F188AE3-94A4-408C-AC01-AD274E9B8E52}"/>
              </a:ext>
            </a:extLst>
          </p:cNvPr>
          <p:cNvSpPr>
            <a:spLocks noGrp="1"/>
          </p:cNvSpPr>
          <p:nvPr/>
        </p:nvSpPr>
        <p:spPr>
          <a:xfrm>
            <a:off x="6267450" y="441960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96B24"/>
          </a:solidFill>
          <a:ln w="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948029-DD2A-498A-8976-CECFA611DAF0}"/>
              </a:ext>
            </a:extLst>
          </p:cNvPr>
          <p:cNvSpPr>
            <a:spLocks noGrp="1"/>
          </p:cNvSpPr>
          <p:nvPr/>
        </p:nvSpPr>
        <p:spPr>
          <a:xfrm>
            <a:off x="6343650" y="44958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fill coverage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CB5479-A9A3-49C4-8EC4-4D30F076F9C6}"/>
              </a:ext>
            </a:extLst>
          </p:cNvPr>
          <p:cNvSpPr>
            <a:spLocks noGrp="1"/>
          </p:cNvSpPr>
          <p:nvPr/>
        </p:nvSpPr>
        <p:spPr>
          <a:xfrm>
            <a:off x="7905750" y="44577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5A6A7C"/>
                </a:solidFill>
              </a:defRPr>
            </a:pPr>
            <a:r>
              <a:rPr sz="1650" b="1" i="0">
                <a:solidFill>
                  <a:srgbClr val="5A6A7C"/>
                </a:solidFill>
              </a:rPr>
              <a:t>&gt;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E19E171-B927-4931-BFF5-92F7C831CB4C}"/>
              </a:ext>
            </a:extLst>
          </p:cNvPr>
          <p:cNvSpPr>
            <a:spLocks noGrp="1"/>
          </p:cNvSpPr>
          <p:nvPr/>
        </p:nvSpPr>
        <p:spPr>
          <a:xfrm>
            <a:off x="8439150" y="441960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B23A48"/>
          </a:solidFill>
          <a:ln w="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21E2D9-4118-4FD0-BBB4-3581AA00974A}"/>
              </a:ext>
            </a:extLst>
          </p:cNvPr>
          <p:cNvSpPr>
            <a:spLocks noGrp="1"/>
          </p:cNvSpPr>
          <p:nvPr/>
        </p:nvSpPr>
        <p:spPr>
          <a:xfrm>
            <a:off x="8515350" y="44958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final recon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8C2E72-A1AD-4ACC-AF29-1A57E2E76DF3}"/>
              </a:ext>
            </a:extLst>
          </p:cNvPr>
          <p:cNvSpPr>
            <a:spLocks noGrp="1"/>
          </p:cNvSpPr>
          <p:nvPr/>
        </p:nvSpPr>
        <p:spPr>
          <a:xfrm>
            <a:off x="1295400" y="52768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 i="0">
                <a:solidFill>
                  <a:srgbClr val="23384E"/>
                </a:solidFill>
              </a:defRPr>
            </a:pPr>
            <a:r>
              <a:rPr sz="1650" b="0" i="0">
                <a:solidFill>
                  <a:srgbClr val="23384E"/>
                </a:solidFill>
              </a:rPr>
              <a:t>Independent mode disables greedy sampling from stage 4; single-state stochastic sampling starts later, from stage 5.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CE1663-6C1A-4E9D-A3EB-70A1FED9AC08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5A6A7C"/>
                </a:solidFill>
              </a:defRPr>
            </a:pPr>
            <a:r>
              <a:rPr sz="825" b="0" i="0">
                <a:solidFill>
                  <a:srgbClr val="5A6A7C"/>
                </a:solidFill>
              </a:rPr>
              <a:t>Draft technical introduction for development discussion</a:t>
            </a:r>
          </a:p>
        </p:txBody>
      </p:sp>
    </p:spTree>
    <p:extLst>
      <p:ext uri="{BB962C8B-B14F-4D97-AF65-F5344CB8AC3E}">
        <p14:creationId xmlns:p14="http://schemas.microsoft.com/office/powerpoint/2010/main" val="23734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F91550D-A047-4858-8BD6-F04BF281D9BB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E97132"/>
                </a:solidFill>
              </a:defRPr>
            </a:pPr>
            <a:r>
              <a:rPr sz="900" b="1" i="0">
                <a:solidFill>
                  <a:srgbClr val="E97132"/>
                </a:solidFill>
              </a:rPr>
              <a:t>SIMPLE ABINITIO3D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EF56FF-51B9-454B-B958-12F32DEC7F6E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885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 i="0">
                <a:solidFill>
                  <a:srgbClr val="0E2841"/>
                </a:solidFill>
              </a:defRPr>
            </a:pPr>
            <a:r>
              <a:rPr sz="2700" b="1" i="0">
                <a:solidFill>
                  <a:srgbClr val="0E2841"/>
                </a:solidFill>
              </a:rPr>
              <a:t>Filtering schedule across stages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2476EE-C99E-4D55-95CC-F1F7E1F08C41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5A6A7C"/>
                </a:solidFill>
              </a:defRPr>
            </a:pPr>
            <a:r>
              <a:rPr sz="1050" b="1" i="0">
                <a:solidFill>
                  <a:srgbClr val="5A6A7C"/>
                </a:solidFill>
              </a:rPr>
              <a:t>08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A536748-8FFC-47EF-9702-FE0A4C15544F}"/>
              </a:ext>
            </a:extLst>
          </p:cNvPr>
          <p:cNvSpPr>
            <a:spLocks noGrp="1"/>
          </p:cNvSpPr>
          <p:nvPr/>
        </p:nvSpPr>
        <p:spPr>
          <a:xfrm>
            <a:off x="514350" y="1371600"/>
            <a:ext cx="11163300" cy="0"/>
          </a:xfrm>
          <a:prstGeom prst="line">
            <a:avLst/>
          </a:prstGeom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88DF2E-B072-43A8-A027-46E9C722F5D7}"/>
              </a:ext>
            </a:extLst>
          </p:cNvPr>
          <p:cNvSpPr>
            <a:spLocks noGrp="1"/>
          </p:cNvSpPr>
          <p:nvPr/>
        </p:nvSpPr>
        <p:spPr>
          <a:xfrm>
            <a:off x="781050" y="1771650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7021C5-B8FE-4C4F-AA59-80BB094CA8E4}"/>
              </a:ext>
            </a:extLst>
          </p:cNvPr>
          <p:cNvSpPr>
            <a:spLocks noGrp="1"/>
          </p:cNvSpPr>
          <p:nvPr/>
        </p:nvSpPr>
        <p:spPr>
          <a:xfrm>
            <a:off x="1009650" y="1933575"/>
            <a:ext cx="1638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Stages 1-2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711C4D-8D7F-499F-858C-593E26B5BCF2}"/>
              </a:ext>
            </a:extLst>
          </p:cNvPr>
          <p:cNvSpPr>
            <a:spLocks noGrp="1"/>
          </p:cNvSpPr>
          <p:nvPr/>
        </p:nvSpPr>
        <p:spPr>
          <a:xfrm>
            <a:off x="3105150" y="1771650"/>
            <a:ext cx="7810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0D426F-13AA-460D-9C2D-86DC297CBB15}"/>
              </a:ext>
            </a:extLst>
          </p:cNvPr>
          <p:cNvSpPr>
            <a:spLocks noGrp="1"/>
          </p:cNvSpPr>
          <p:nvPr/>
        </p:nvSpPr>
        <p:spPr>
          <a:xfrm>
            <a:off x="3371850" y="1895475"/>
            <a:ext cx="727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Gaussian reference filtering; ML regularization off; no conical FSC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F2F1BC0-63AA-4AE2-91D8-87F5B82B24B7}"/>
              </a:ext>
            </a:extLst>
          </p:cNvPr>
          <p:cNvSpPr>
            <a:spLocks noGrp="1"/>
          </p:cNvSpPr>
          <p:nvPr/>
        </p:nvSpPr>
        <p:spPr>
          <a:xfrm>
            <a:off x="781050" y="2647950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6E98B5-1A06-4294-ADA4-5466ABA8604F}"/>
              </a:ext>
            </a:extLst>
          </p:cNvPr>
          <p:cNvSpPr>
            <a:spLocks noGrp="1"/>
          </p:cNvSpPr>
          <p:nvPr/>
        </p:nvSpPr>
        <p:spPr>
          <a:xfrm>
            <a:off x="1009650" y="2809875"/>
            <a:ext cx="1638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Stages 3-5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D941E6A-0292-4E7C-924B-C7AF4BC5359C}"/>
              </a:ext>
            </a:extLst>
          </p:cNvPr>
          <p:cNvSpPr>
            <a:spLocks noGrp="1"/>
          </p:cNvSpPr>
          <p:nvPr/>
        </p:nvSpPr>
        <p:spPr>
          <a:xfrm>
            <a:off x="3105150" y="2647950"/>
            <a:ext cx="7810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82FEAC-A9B1-472A-8326-28F6B970F1E7}"/>
              </a:ext>
            </a:extLst>
          </p:cNvPr>
          <p:cNvSpPr>
            <a:spLocks noGrp="1"/>
          </p:cNvSpPr>
          <p:nvPr/>
        </p:nvSpPr>
        <p:spPr>
          <a:xfrm>
            <a:off x="3371850" y="2762250"/>
            <a:ext cx="767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 dirty="0">
                <a:solidFill>
                  <a:srgbClr val="23384E"/>
                </a:solidFill>
              </a:rPr>
              <a:t>prob search with ML regularization and conical FSC available; trailing recon starts for single-state at stage 5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EEABE90-9B4C-4B14-A4B1-51B3420DCDB5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196B24"/>
          </a:solidFill>
          <a:ln w="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FA3421-AF73-4D61-AF18-520764BD349F}"/>
              </a:ext>
            </a:extLst>
          </p:cNvPr>
          <p:cNvSpPr>
            <a:spLocks noGrp="1"/>
          </p:cNvSpPr>
          <p:nvPr/>
        </p:nvSpPr>
        <p:spPr>
          <a:xfrm>
            <a:off x="1009650" y="3686175"/>
            <a:ext cx="1638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Stages 6-7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F08CABC-D618-4A6C-B85E-BA54141CEF38}"/>
              </a:ext>
            </a:extLst>
          </p:cNvPr>
          <p:cNvSpPr>
            <a:spLocks noGrp="1"/>
          </p:cNvSpPr>
          <p:nvPr/>
        </p:nvSpPr>
        <p:spPr>
          <a:xfrm>
            <a:off x="3105150" y="3524250"/>
            <a:ext cx="7810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B498D9-A521-43EB-8FA2-17DE852B03A3}"/>
              </a:ext>
            </a:extLst>
          </p:cNvPr>
          <p:cNvSpPr>
            <a:spLocks noGrp="1"/>
          </p:cNvSpPr>
          <p:nvPr/>
        </p:nvSpPr>
        <p:spPr>
          <a:xfrm>
            <a:off x="3371850" y="3648075"/>
            <a:ext cx="727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nonuniform_lpset can provide matching references from NU-filtered even/odd maps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897E13B-6063-443F-B735-374BA940AE3C}"/>
              </a:ext>
            </a:extLst>
          </p:cNvPr>
          <p:cNvSpPr>
            <a:spLocks noGrp="1"/>
          </p:cNvSpPr>
          <p:nvPr/>
        </p:nvSpPr>
        <p:spPr>
          <a:xfrm>
            <a:off x="781050" y="4400550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B23A48"/>
          </a:solidFill>
          <a:ln w="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3B3B7C-7B2A-44E4-A3F0-1FB10BF21B7D}"/>
              </a:ext>
            </a:extLst>
          </p:cNvPr>
          <p:cNvSpPr>
            <a:spLocks noGrp="1"/>
          </p:cNvSpPr>
          <p:nvPr/>
        </p:nvSpPr>
        <p:spPr>
          <a:xfrm>
            <a:off x="1009650" y="4562475"/>
            <a:ext cx="1638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Stage 8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A3CA064-E7F2-4644-994A-D659C6670E80}"/>
              </a:ext>
            </a:extLst>
          </p:cNvPr>
          <p:cNvSpPr>
            <a:spLocks noGrp="1"/>
          </p:cNvSpPr>
          <p:nvPr/>
        </p:nvSpPr>
        <p:spPr>
          <a:xfrm>
            <a:off x="3105150" y="4400550"/>
            <a:ext cx="7810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048B08-C6AF-4B10-9F1B-4D7B4915C79A}"/>
              </a:ext>
            </a:extLst>
          </p:cNvPr>
          <p:cNvSpPr>
            <a:spLocks noGrp="1"/>
          </p:cNvSpPr>
          <p:nvPr/>
        </p:nvSpPr>
        <p:spPr>
          <a:xfrm>
            <a:off x="3371850" y="4524375"/>
            <a:ext cx="727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automask can start; final reconstruction uses fresh original-sampling input where scheduled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AF71B0-FA7D-43CB-A6FC-313D85D5C30E}"/>
              </a:ext>
            </a:extLst>
          </p:cNvPr>
          <p:cNvSpPr>
            <a:spLocks noGrp="1"/>
          </p:cNvSpPr>
          <p:nvPr/>
        </p:nvSpPr>
        <p:spPr>
          <a:xfrm>
            <a:off x="1123950" y="55626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 i="0">
                <a:solidFill>
                  <a:srgbClr val="0E2841"/>
                </a:solidFill>
              </a:defRPr>
            </a:pPr>
            <a:r>
              <a:rPr sz="1575" b="0" i="0">
                <a:solidFill>
                  <a:srgbClr val="0E2841"/>
                </a:solidFill>
              </a:rPr>
              <a:t>NU filtering here is reference-generation policy, not a final-map postprocessing shortcut. abinitio3D explicitly keeps nu_refine disabled.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5E19B9-E6C0-41DF-B005-C6F47B5DA918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5A6A7C"/>
                </a:solidFill>
              </a:defRPr>
            </a:pPr>
            <a:r>
              <a:rPr sz="825" b="0" i="0">
                <a:solidFill>
                  <a:srgbClr val="5A6A7C"/>
                </a:solidFill>
              </a:rPr>
              <a:t>Draft technical introduction for development discussion</a:t>
            </a:r>
          </a:p>
        </p:txBody>
      </p:sp>
    </p:spTree>
    <p:extLst>
      <p:ext uri="{BB962C8B-B14F-4D97-AF65-F5344CB8AC3E}">
        <p14:creationId xmlns:p14="http://schemas.microsoft.com/office/powerpoint/2010/main" val="1786170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0399729-5935-416D-A5FB-A37E0F791C3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E97132"/>
                </a:solidFill>
              </a:defRPr>
            </a:pPr>
            <a:r>
              <a:rPr sz="900" b="1" i="0">
                <a:solidFill>
                  <a:srgbClr val="E97132"/>
                </a:solidFill>
              </a:rPr>
              <a:t>SIMPLE ABINITIO3D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0AE826-67B7-4719-9726-F4408B850C39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885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 i="0">
                <a:solidFill>
                  <a:srgbClr val="0E2841"/>
                </a:solidFill>
              </a:defRPr>
            </a:pPr>
            <a:r>
              <a:rPr sz="2700" b="1" i="0">
                <a:solidFill>
                  <a:srgbClr val="0E2841"/>
                </a:solidFill>
              </a:rPr>
              <a:t>Volume update: partials to next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588DDF-7A51-418A-83AE-AB377CC344EF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5A6A7C"/>
                </a:solidFill>
              </a:defRPr>
            </a:pPr>
            <a:r>
              <a:rPr sz="1050" b="1" i="0">
                <a:solidFill>
                  <a:srgbClr val="5A6A7C"/>
                </a:solidFill>
              </a:rPr>
              <a:t>09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D82F499-F043-44AD-B199-7559E0159CB0}"/>
              </a:ext>
            </a:extLst>
          </p:cNvPr>
          <p:cNvSpPr>
            <a:spLocks noGrp="1"/>
          </p:cNvSpPr>
          <p:nvPr/>
        </p:nvSpPr>
        <p:spPr>
          <a:xfrm>
            <a:off x="514350" y="1371600"/>
            <a:ext cx="11163300" cy="0"/>
          </a:xfrm>
          <a:prstGeom prst="line">
            <a:avLst/>
          </a:prstGeom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6D13E8-D220-49DA-834D-243C9DF24926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23241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C870BDF-03F0-4C7B-97AD-23501B26A3EA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76200" cy="167640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B0DBE-F4CC-4C74-895D-B0AA290640C2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Particle 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1E9C61-9DFB-4032-AC9C-5527292DA07D}"/>
              </a:ext>
            </a:extLst>
          </p:cNvPr>
          <p:cNvSpPr>
            <a:spLocks noGrp="1"/>
          </p:cNvSpPr>
          <p:nvPr/>
        </p:nvSpPr>
        <p:spPr>
          <a:xfrm>
            <a:off x="952500" y="2667000"/>
            <a:ext cx="1905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rank-local searches</a:t>
            </a:r>
          </a:p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state/pose/shift/sigma</a:t>
            </a:r>
          </a:p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partial reconstructions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45EDDA-26F9-413E-A502-91B2EF32E866}"/>
              </a:ext>
            </a:extLst>
          </p:cNvPr>
          <p:cNvSpPr>
            <a:spLocks noGrp="1"/>
          </p:cNvSpPr>
          <p:nvPr/>
        </p:nvSpPr>
        <p:spPr>
          <a:xfrm>
            <a:off x="3124200" y="2743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5A6A7C"/>
                </a:solidFill>
              </a:defRPr>
            </a:pPr>
            <a:r>
              <a:rPr sz="1800" b="1" i="0">
                <a:solidFill>
                  <a:srgbClr val="5A6A7C"/>
                </a:solidFill>
              </a:rPr>
              <a:t>&gt;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A4C62A4-2655-4221-B7EF-693B9DB1B1E6}"/>
              </a:ext>
            </a:extLst>
          </p:cNvPr>
          <p:cNvSpPr>
            <a:spLocks noGrp="1"/>
          </p:cNvSpPr>
          <p:nvPr/>
        </p:nvSpPr>
        <p:spPr>
          <a:xfrm>
            <a:off x="3600450" y="2076450"/>
            <a:ext cx="23241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7B53FCB-3DE1-4820-A007-B336E624668D}"/>
              </a:ext>
            </a:extLst>
          </p:cNvPr>
          <p:cNvSpPr>
            <a:spLocks noGrp="1"/>
          </p:cNvSpPr>
          <p:nvPr/>
        </p:nvSpPr>
        <p:spPr>
          <a:xfrm>
            <a:off x="3600450" y="2076450"/>
            <a:ext cx="76200" cy="167640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990CA0-ACD3-47C2-AE00-3BC6BCF0FB7F}"/>
              </a:ext>
            </a:extLst>
          </p:cNvPr>
          <p:cNvSpPr>
            <a:spLocks noGrp="1"/>
          </p:cNvSpPr>
          <p:nvPr/>
        </p:nvSpPr>
        <p:spPr>
          <a:xfrm>
            <a:off x="3810000" y="22479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volassemble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2EEDA-A218-49D3-AD0A-BABF9EB359C9}"/>
              </a:ext>
            </a:extLst>
          </p:cNvPr>
          <p:cNvSpPr>
            <a:spLocks noGrp="1"/>
          </p:cNvSpPr>
          <p:nvPr/>
        </p:nvSpPr>
        <p:spPr>
          <a:xfrm>
            <a:off x="3810000" y="2667000"/>
            <a:ext cx="1905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reduce partials</a:t>
            </a:r>
          </a:p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restore even/odd maps</a:t>
            </a:r>
          </a:p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merge and score FSC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A90B2F-0334-4CA5-AA91-A5DB73D8527F}"/>
              </a:ext>
            </a:extLst>
          </p:cNvPr>
          <p:cNvSpPr>
            <a:spLocks noGrp="1"/>
          </p:cNvSpPr>
          <p:nvPr/>
        </p:nvSpPr>
        <p:spPr>
          <a:xfrm>
            <a:off x="5981700" y="2743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5A6A7C"/>
                </a:solidFill>
              </a:defRPr>
            </a:pPr>
            <a:r>
              <a:rPr sz="1800" b="1" i="0">
                <a:solidFill>
                  <a:srgbClr val="5A6A7C"/>
                </a:solidFill>
              </a:rPr>
              <a:t>&gt;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45E5D9E-87F9-4067-83EA-801F65F26C4E}"/>
              </a:ext>
            </a:extLst>
          </p:cNvPr>
          <p:cNvSpPr>
            <a:spLocks noGrp="1"/>
          </p:cNvSpPr>
          <p:nvPr/>
        </p:nvSpPr>
        <p:spPr>
          <a:xfrm>
            <a:off x="6457950" y="2076450"/>
            <a:ext cx="23241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8308A4B-6F5A-4B37-A8FE-017216F88B76}"/>
              </a:ext>
            </a:extLst>
          </p:cNvPr>
          <p:cNvSpPr>
            <a:spLocks noGrp="1"/>
          </p:cNvSpPr>
          <p:nvPr/>
        </p:nvSpPr>
        <p:spPr>
          <a:xfrm>
            <a:off x="6457950" y="2076450"/>
            <a:ext cx="76200" cy="1676400"/>
          </a:xfrm>
          <a:prstGeom prst="roundRect">
            <a:avLst>
              <a:gd name="adj" fmla="val 50000"/>
            </a:avLst>
          </a:prstGeom>
          <a:solidFill>
            <a:srgbClr val="196B24"/>
          </a:solidFill>
          <a:ln w="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CCC8F6-3F6A-478C-8AA8-5C72E5B0BFFC}"/>
              </a:ext>
            </a:extLst>
          </p:cNvPr>
          <p:cNvSpPr>
            <a:spLocks noGrp="1"/>
          </p:cNvSpPr>
          <p:nvPr/>
        </p:nvSpPr>
        <p:spPr>
          <a:xfrm>
            <a:off x="6667500" y="22479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Reference policy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AFAF8D-39DE-46E4-BFA8-2A033543500C}"/>
              </a:ext>
            </a:extLst>
          </p:cNvPr>
          <p:cNvSpPr>
            <a:spLocks noGrp="1"/>
          </p:cNvSpPr>
          <p:nvPr/>
        </p:nvSpPr>
        <p:spPr>
          <a:xfrm>
            <a:off x="6667500" y="2667000"/>
            <a:ext cx="1905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trailrec blend</a:t>
            </a:r>
          </a:p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NU reference bank</a:t>
            </a:r>
          </a:p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automask when enabled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E1AE80-0FDA-4E7A-99A9-22DE3BC9EB1B}"/>
              </a:ext>
            </a:extLst>
          </p:cNvPr>
          <p:cNvSpPr>
            <a:spLocks noGrp="1"/>
          </p:cNvSpPr>
          <p:nvPr/>
        </p:nvSpPr>
        <p:spPr>
          <a:xfrm>
            <a:off x="8839200" y="2743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5A6A7C"/>
                </a:solidFill>
              </a:defRPr>
            </a:pPr>
            <a:r>
              <a:rPr sz="1800" b="1" i="0">
                <a:solidFill>
                  <a:srgbClr val="5A6A7C"/>
                </a:solidFill>
              </a:rPr>
              <a:t>&gt;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84F385C-D755-4774-B150-BAA86A4E6379}"/>
              </a:ext>
            </a:extLst>
          </p:cNvPr>
          <p:cNvSpPr>
            <a:spLocks noGrp="1"/>
          </p:cNvSpPr>
          <p:nvPr/>
        </p:nvSpPr>
        <p:spPr>
          <a:xfrm>
            <a:off x="9315450" y="2076450"/>
            <a:ext cx="23241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A38E799-5832-4E77-B674-5D0EDF605BA0}"/>
              </a:ext>
            </a:extLst>
          </p:cNvPr>
          <p:cNvSpPr>
            <a:spLocks noGrp="1"/>
          </p:cNvSpPr>
          <p:nvPr/>
        </p:nvSpPr>
        <p:spPr>
          <a:xfrm>
            <a:off x="9315450" y="2076450"/>
            <a:ext cx="76200" cy="167640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C9F5C1-321B-4384-AA73-9C7647773FD7}"/>
              </a:ext>
            </a:extLst>
          </p:cNvPr>
          <p:cNvSpPr>
            <a:spLocks noGrp="1"/>
          </p:cNvSpPr>
          <p:nvPr/>
        </p:nvSpPr>
        <p:spPr>
          <a:xfrm>
            <a:off x="9525000" y="22479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Project state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920B2C-C718-451D-843E-D23118E8D5DB}"/>
              </a:ext>
            </a:extLst>
          </p:cNvPr>
          <p:cNvSpPr>
            <a:spLocks noGrp="1"/>
          </p:cNvSpPr>
          <p:nvPr/>
        </p:nvSpPr>
        <p:spPr>
          <a:xfrm>
            <a:off x="9525000" y="2667000"/>
            <a:ext cx="1905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os_out metadata</a:t>
            </a:r>
          </a:p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updated orientation tables</a:t>
            </a:r>
          </a:p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next child command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5E72390-24F9-4CC6-9A69-76F31FA723DF}"/>
              </a:ext>
            </a:extLst>
          </p:cNvPr>
          <p:cNvSpPr>
            <a:spLocks noGrp="1"/>
          </p:cNvSpPr>
          <p:nvPr/>
        </p:nvSpPr>
        <p:spPr>
          <a:xfrm>
            <a:off x="1809750" y="4305300"/>
            <a:ext cx="8572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27DB254-D060-4F00-837A-9539291DCF9A}"/>
              </a:ext>
            </a:extLst>
          </p:cNvPr>
          <p:cNvSpPr>
            <a:spLocks noGrp="1"/>
          </p:cNvSpPr>
          <p:nvPr/>
        </p:nvSpPr>
        <p:spPr>
          <a:xfrm>
            <a:off x="1809750" y="4305300"/>
            <a:ext cx="76200" cy="140970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 w="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AB3FCE-B473-4EF5-A26F-19E76DA7F6EB}"/>
              </a:ext>
            </a:extLst>
          </p:cNvPr>
          <p:cNvSpPr>
            <a:spLocks noGrp="1"/>
          </p:cNvSpPr>
          <p:nvPr/>
        </p:nvSpPr>
        <p:spPr>
          <a:xfrm>
            <a:off x="2019300" y="4476750"/>
            <a:ext cx="815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Important implementation detail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69616E-CB82-4705-B07A-6B0C23A51043}"/>
              </a:ext>
            </a:extLst>
          </p:cNvPr>
          <p:cNvSpPr>
            <a:spLocks noGrp="1"/>
          </p:cNvSpPr>
          <p:nvPr/>
        </p:nvSpPr>
        <p:spPr>
          <a:xfrm>
            <a:off x="2019300" y="4895850"/>
            <a:ext cx="815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23384E"/>
                </a:solidFill>
              </a:defRPr>
            </a:pPr>
            <a:r>
              <a:rPr sz="1425" b="0" i="0">
                <a:solidFill>
                  <a:srgbClr val="23384E"/>
                </a:solidFill>
              </a:rPr>
              <a:t>The matcher does not refresh its polar-Fourier references in-place during volume assembly. The next iteration or next stage generates a new reprojection model from the Cartesian output volumes.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82D694-F5D5-4915-8F78-8ED68A052BF2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5A6A7C"/>
                </a:solidFill>
              </a:defRPr>
            </a:pPr>
            <a:r>
              <a:rPr sz="825" b="0" i="0">
                <a:solidFill>
                  <a:srgbClr val="5A6A7C"/>
                </a:solidFill>
              </a:rPr>
              <a:t>Draft technical introduction for development discussion</a:t>
            </a:r>
          </a:p>
        </p:txBody>
      </p:sp>
    </p:spTree>
    <p:extLst>
      <p:ext uri="{BB962C8B-B14F-4D97-AF65-F5344CB8AC3E}">
        <p14:creationId xmlns:p14="http://schemas.microsoft.com/office/powerpoint/2010/main" val="996988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4EF2A42-AE4E-4784-8F86-FF8C9BF4DEFB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E97132"/>
                </a:solidFill>
              </a:defRPr>
            </a:pPr>
            <a:r>
              <a:rPr sz="900" b="1" i="0">
                <a:solidFill>
                  <a:srgbClr val="E97132"/>
                </a:solidFill>
              </a:rPr>
              <a:t>SIMPLE ABINITIO3D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B7EF1F-F3EC-4EC5-9F44-60D12A3D33AF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885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 i="0">
                <a:solidFill>
                  <a:srgbClr val="0E2841"/>
                </a:solidFill>
              </a:defRPr>
            </a:pPr>
            <a:r>
              <a:rPr sz="2700" b="1" i="0">
                <a:solidFill>
                  <a:srgbClr val="0E2841"/>
                </a:solidFill>
              </a:rPr>
              <a:t>Initialization routes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5BFA63-BE6B-491E-AE02-C084D5A8AD1B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5A6A7C"/>
                </a:solidFill>
              </a:defRPr>
            </a:pPr>
            <a:r>
              <a:rPr sz="1050" b="1" i="0">
                <a:solidFill>
                  <a:srgbClr val="5A6A7C"/>
                </a:solidFill>
              </a:rPr>
              <a:t>10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1910DED-205E-4B76-8A18-D02FCF613772}"/>
              </a:ext>
            </a:extLst>
          </p:cNvPr>
          <p:cNvSpPr>
            <a:spLocks noGrp="1"/>
          </p:cNvSpPr>
          <p:nvPr/>
        </p:nvSpPr>
        <p:spPr>
          <a:xfrm>
            <a:off x="514350" y="1371600"/>
            <a:ext cx="11163300" cy="0"/>
          </a:xfrm>
          <a:prstGeom prst="line">
            <a:avLst/>
          </a:prstGeom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0E436E3-BAAF-4C39-892A-A8DB7DC24020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428875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F125307-4728-4C05-AD8B-DEA8C5FE192A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CC23C0-D256-4C79-9B4C-99C5E069B4B0}"/>
              </a:ext>
            </a:extLst>
          </p:cNvPr>
          <p:cNvSpPr>
            <a:spLocks noGrp="1"/>
          </p:cNvSpPr>
          <p:nvPr/>
        </p:nvSpPr>
        <p:spPr>
          <a:xfrm>
            <a:off x="876300" y="1981200"/>
            <a:ext cx="20097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Fresh random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412356-71F6-4C30-AC59-E5127C82895D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2009775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23384E"/>
                </a:solidFill>
              </a:defRPr>
            </a:pPr>
            <a:r>
              <a:rPr sz="1275" b="0" i="0">
                <a:solidFill>
                  <a:srgbClr val="23384E"/>
                </a:solidFill>
              </a:rPr>
              <a:t>Default fresh-start route. 3D particle alignment is reset, shifts are preserved, selected particles are made active, and random volumes seed the first stage.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27E3CB-0BC2-4F5F-AD6D-CB5F719CCA34}"/>
              </a:ext>
            </a:extLst>
          </p:cNvPr>
          <p:cNvSpPr>
            <a:spLocks noGrp="1"/>
          </p:cNvSpPr>
          <p:nvPr/>
        </p:nvSpPr>
        <p:spPr>
          <a:xfrm>
            <a:off x="3476625" y="1809750"/>
            <a:ext cx="2428875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69866F-2E47-4B9B-99AC-238B58E14B49}"/>
              </a:ext>
            </a:extLst>
          </p:cNvPr>
          <p:cNvSpPr>
            <a:spLocks noGrp="1"/>
          </p:cNvSpPr>
          <p:nvPr/>
        </p:nvSpPr>
        <p:spPr>
          <a:xfrm>
            <a:off x="3476625" y="180975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31ACFF-CA3F-46CD-8375-8F937C6934D4}"/>
              </a:ext>
            </a:extLst>
          </p:cNvPr>
          <p:cNvSpPr>
            <a:spLocks noGrp="1"/>
          </p:cNvSpPr>
          <p:nvPr/>
        </p:nvSpPr>
        <p:spPr>
          <a:xfrm>
            <a:off x="3686175" y="1981200"/>
            <a:ext cx="20097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vol1 input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26BB5-FBBA-41B0-A557-2C2F6A055035}"/>
              </a:ext>
            </a:extLst>
          </p:cNvPr>
          <p:cNvSpPr>
            <a:spLocks noGrp="1"/>
          </p:cNvSpPr>
          <p:nvPr/>
        </p:nvSpPr>
        <p:spPr>
          <a:xfrm>
            <a:off x="3686175" y="2400300"/>
            <a:ext cx="2009775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23384E"/>
                </a:solidFill>
              </a:defRPr>
            </a:pPr>
            <a:r>
              <a:rPr sz="1275" b="0" i="0">
                <a:solidFill>
                  <a:srgbClr val="23384E"/>
                </a:solidFill>
              </a:rPr>
              <a:t>A user-provided 3D volume supplies the initial reference. The controller still applies the staged abinitio3D policy around it.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5DE973E-F2CE-418A-B650-529E20068061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2428875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E579128-2481-41B9-A370-363A089B6028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196B24"/>
          </a:solidFill>
          <a:ln w="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6877BD-8DB8-4021-A3F5-469A125076D0}"/>
              </a:ext>
            </a:extLst>
          </p:cNvPr>
          <p:cNvSpPr>
            <a:spLocks noGrp="1"/>
          </p:cNvSpPr>
          <p:nvPr/>
        </p:nvSpPr>
        <p:spPr>
          <a:xfrm>
            <a:off x="6496050" y="1981200"/>
            <a:ext cx="20097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cavg_ini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3F2182-4A50-4FBE-AB6B-5BCB9C6237BF}"/>
              </a:ext>
            </a:extLst>
          </p:cNvPr>
          <p:cNvSpPr>
            <a:spLocks noGrp="1"/>
          </p:cNvSpPr>
          <p:nvPr/>
        </p:nvSpPr>
        <p:spPr>
          <a:xfrm>
            <a:off x="6496050" y="2400300"/>
            <a:ext cx="2009775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23384E"/>
                </a:solidFill>
              </a:defRPr>
            </a:pPr>
            <a:r>
              <a:rPr sz="1275" b="0" i="0">
                <a:solidFill>
                  <a:srgbClr val="23384E"/>
                </a:solidFill>
              </a:rPr>
              <a:t>Initial model construction from class averages inside the project, including transfer of useful 2D alignment signal.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D5DFFBA-53DC-4DC1-AB33-7465C5836AD8}"/>
              </a:ext>
            </a:extLst>
          </p:cNvPr>
          <p:cNvSpPr>
            <a:spLocks noGrp="1"/>
          </p:cNvSpPr>
          <p:nvPr/>
        </p:nvSpPr>
        <p:spPr>
          <a:xfrm>
            <a:off x="9096375" y="1809750"/>
            <a:ext cx="2428875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7FD54BA-9BCF-491F-A18C-433DA11E14C0}"/>
              </a:ext>
            </a:extLst>
          </p:cNvPr>
          <p:cNvSpPr>
            <a:spLocks noGrp="1"/>
          </p:cNvSpPr>
          <p:nvPr/>
        </p:nvSpPr>
        <p:spPr>
          <a:xfrm>
            <a:off x="9096375" y="180975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CCDA55-289E-4E97-992B-819171CBE030}"/>
              </a:ext>
            </a:extLst>
          </p:cNvPr>
          <p:cNvSpPr>
            <a:spLocks noGrp="1"/>
          </p:cNvSpPr>
          <p:nvPr/>
        </p:nvSpPr>
        <p:spPr>
          <a:xfrm>
            <a:off x="9305925" y="1981200"/>
            <a:ext cx="20097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cavg_ini_ext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2E5CFB-B729-4882-9944-535478761462}"/>
              </a:ext>
            </a:extLst>
          </p:cNvPr>
          <p:cNvSpPr>
            <a:spLocks noGrp="1"/>
          </p:cNvSpPr>
          <p:nvPr/>
        </p:nvSpPr>
        <p:spPr>
          <a:xfrm>
            <a:off x="9305925" y="2400300"/>
            <a:ext cx="2009775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23384E"/>
                </a:solidFill>
              </a:defRPr>
            </a:pPr>
            <a:r>
              <a:rPr sz="1275" b="0" i="0" dirty="0">
                <a:solidFill>
                  <a:srgbClr val="23384E"/>
                </a:solidFill>
              </a:rPr>
              <a:t>External </a:t>
            </a:r>
            <a:r>
              <a:rPr lang="en-US" sz="1275" b="0" i="0" dirty="0">
                <a:solidFill>
                  <a:srgbClr val="23384E"/>
                </a:solidFill>
              </a:rPr>
              <a:t>3D on </a:t>
            </a:r>
            <a:r>
              <a:rPr sz="1275" b="0" i="0" dirty="0">
                <a:solidFill>
                  <a:srgbClr val="23384E"/>
                </a:solidFill>
              </a:rPr>
              <a:t>class averages can seed the initial model path while keeping the later staged refine3D workflow consistent.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CA2B9D-506C-45C3-A5DC-DEF640C102E9}"/>
              </a:ext>
            </a:extLst>
          </p:cNvPr>
          <p:cNvSpPr>
            <a:spLocks noGrp="1"/>
          </p:cNvSpPr>
          <p:nvPr/>
        </p:nvSpPr>
        <p:spPr>
          <a:xfrm>
            <a:off x="1295400" y="5105400"/>
            <a:ext cx="9601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 i="0">
                <a:solidFill>
                  <a:srgbClr val="23384E"/>
                </a:solidFill>
              </a:defRPr>
            </a:pPr>
            <a:r>
              <a:rPr sz="1800" b="0" i="0" dirty="0">
                <a:solidFill>
                  <a:srgbClr val="23384E"/>
                </a:solidFill>
              </a:rPr>
              <a:t>The initialization changes where the first model comes from; the stage policy controls how that model is searched, filtered, sampled, and replaced.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28828A-2183-4623-BA4F-F79B199FDA43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5A6A7C"/>
                </a:solidFill>
              </a:defRPr>
            </a:pPr>
            <a:r>
              <a:rPr sz="825" b="0" i="0">
                <a:solidFill>
                  <a:srgbClr val="5A6A7C"/>
                </a:solidFill>
              </a:rPr>
              <a:t>Draft technical introduction for development discussion</a:t>
            </a:r>
          </a:p>
        </p:txBody>
      </p:sp>
    </p:spTree>
    <p:extLst>
      <p:ext uri="{BB962C8B-B14F-4D97-AF65-F5344CB8AC3E}">
        <p14:creationId xmlns:p14="http://schemas.microsoft.com/office/powerpoint/2010/main" val="176609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C677BD1-0605-4618-BFF1-77EE3526CB54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E97132"/>
                </a:solidFill>
              </a:defRPr>
            </a:pPr>
            <a:r>
              <a:rPr sz="900" b="1" i="0">
                <a:solidFill>
                  <a:srgbClr val="E97132"/>
                </a:solidFill>
              </a:rPr>
              <a:t>SIMPLE ABINITIO3D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4F49AC-F3F6-466E-8C7E-FF4517B22CF7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885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 i="0">
                <a:solidFill>
                  <a:srgbClr val="0E2841"/>
                </a:solidFill>
              </a:defRPr>
            </a:pPr>
            <a:r>
              <a:rPr sz="2700" b="1" i="0">
                <a:solidFill>
                  <a:srgbClr val="0E2841"/>
                </a:solidFill>
              </a:rPr>
              <a:t>Single-state, independent, and docked variants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769DD9-A8D0-493A-BA30-E07E607EEA81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5A6A7C"/>
                </a:solidFill>
              </a:defRPr>
            </a:pPr>
            <a:r>
              <a:rPr sz="1050" b="1" i="0">
                <a:solidFill>
                  <a:srgbClr val="5A6A7C"/>
                </a:solidFill>
              </a:rPr>
              <a:t>11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312C099-96B3-4BA0-8F18-ACA22C4E34B3}"/>
              </a:ext>
            </a:extLst>
          </p:cNvPr>
          <p:cNvSpPr>
            <a:spLocks noGrp="1"/>
          </p:cNvSpPr>
          <p:nvPr/>
        </p:nvSpPr>
        <p:spPr>
          <a:xfrm>
            <a:off x="514350" y="1371600"/>
            <a:ext cx="11163300" cy="0"/>
          </a:xfrm>
          <a:prstGeom prst="line">
            <a:avLst/>
          </a:prstGeom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695438C-7D93-4258-A89E-D0F5AE5DCA6A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33337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3212766-FDDF-4466-AB4D-6F7037395ECF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B8990E-A260-413F-A25A-D6AE1B0C1849}"/>
              </a:ext>
            </a:extLst>
          </p:cNvPr>
          <p:cNvSpPr>
            <a:spLocks noGrp="1"/>
          </p:cNvSpPr>
          <p:nvPr/>
        </p:nvSpPr>
        <p:spPr>
          <a:xfrm>
            <a:off x="914400" y="1962150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Single-state default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489B2F-4A69-4B78-98A1-27D172F1B365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9146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 dirty="0">
                <a:solidFill>
                  <a:srgbClr val="23384E"/>
                </a:solidFill>
              </a:rPr>
              <a:t>Runs the full staged schedule unless stopped by user policy. Stage 5 is where single-state sampling, </a:t>
            </a:r>
            <a:r>
              <a:rPr sz="1350" b="0" i="0" dirty="0" err="1">
                <a:solidFill>
                  <a:srgbClr val="23384E"/>
                </a:solidFill>
              </a:rPr>
              <a:t>frac_best</a:t>
            </a:r>
            <a:r>
              <a:rPr sz="1350" b="0" i="0" dirty="0">
                <a:solidFill>
                  <a:srgbClr val="23384E"/>
                </a:solidFill>
              </a:rPr>
              <a:t> </a:t>
            </a:r>
            <a:r>
              <a:rPr lang="en-US" sz="1350" b="0" i="0" dirty="0">
                <a:solidFill>
                  <a:srgbClr val="23384E"/>
                </a:solidFill>
              </a:rPr>
              <a:t>widening</a:t>
            </a:r>
            <a:r>
              <a:rPr sz="1350" b="0" i="0" dirty="0">
                <a:solidFill>
                  <a:srgbClr val="23384E"/>
                </a:solidFill>
              </a:rPr>
              <a:t>, and trailing reconstruction become more consequential.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BE3760B-63CC-4563-9B57-4AA34604D9FF}"/>
              </a:ext>
            </a:extLst>
          </p:cNvPr>
          <p:cNvSpPr>
            <a:spLocks noGrp="1"/>
          </p:cNvSpPr>
          <p:nvPr/>
        </p:nvSpPr>
        <p:spPr>
          <a:xfrm>
            <a:off x="4438650" y="1790700"/>
            <a:ext cx="33337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3106E0A-28CC-40EA-BDFF-B510924ABC16}"/>
              </a:ext>
            </a:extLst>
          </p:cNvPr>
          <p:cNvSpPr>
            <a:spLocks noGrp="1"/>
          </p:cNvSpPr>
          <p:nvPr/>
        </p:nvSpPr>
        <p:spPr>
          <a:xfrm>
            <a:off x="4438650" y="17907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B75BC7-0A53-47B4-ABD5-A5C75A6D072B}"/>
              </a:ext>
            </a:extLst>
          </p:cNvPr>
          <p:cNvSpPr>
            <a:spLocks noGrp="1"/>
          </p:cNvSpPr>
          <p:nvPr/>
        </p:nvSpPr>
        <p:spPr>
          <a:xfrm>
            <a:off x="4648200" y="1962150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Independent mode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009A87-EB86-4D3F-8E03-E8B9A968EA2D}"/>
              </a:ext>
            </a:extLst>
          </p:cNvPr>
          <p:cNvSpPr>
            <a:spLocks noGrp="1"/>
          </p:cNvSpPr>
          <p:nvPr/>
        </p:nvSpPr>
        <p:spPr>
          <a:xfrm>
            <a:off x="4648200" y="2381250"/>
            <a:ext cx="29146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Default stop is stage 5. This avoids the later prob_neigh/NU/automask regime, then performs a final reconstruction using fresh original-sampling inputs.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D37354F-9D94-460D-9974-B801F9C0B5B8}"/>
              </a:ext>
            </a:extLst>
          </p:cNvPr>
          <p:cNvSpPr>
            <a:spLocks noGrp="1"/>
          </p:cNvSpPr>
          <p:nvPr/>
        </p:nvSpPr>
        <p:spPr>
          <a:xfrm>
            <a:off x="8172450" y="1790700"/>
            <a:ext cx="33337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2640FFC-B393-4EA6-A8B2-04DB1445540B}"/>
              </a:ext>
            </a:extLst>
          </p:cNvPr>
          <p:cNvSpPr>
            <a:spLocks noGrp="1"/>
          </p:cNvSpPr>
          <p:nvPr/>
        </p:nvSpPr>
        <p:spPr>
          <a:xfrm>
            <a:off x="8172450" y="17907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196B24"/>
          </a:solidFill>
          <a:ln w="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9755E8-F87D-4E97-AA79-20C138744D1B}"/>
              </a:ext>
            </a:extLst>
          </p:cNvPr>
          <p:cNvSpPr>
            <a:spLocks noGrp="1"/>
          </p:cNvSpPr>
          <p:nvPr/>
        </p:nvSpPr>
        <p:spPr>
          <a:xfrm>
            <a:off x="8382000" y="1962150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Docked mode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B4DA39-05B8-429B-896D-A692F98FBF2B}"/>
              </a:ext>
            </a:extLst>
          </p:cNvPr>
          <p:cNvSpPr>
            <a:spLocks noGrp="1"/>
          </p:cNvSpPr>
          <p:nvPr/>
        </p:nvSpPr>
        <p:spPr>
          <a:xfrm>
            <a:off x="8382000" y="2381250"/>
            <a:ext cx="29146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3384E"/>
                </a:solidFill>
              </a:defRPr>
            </a:pPr>
            <a:r>
              <a:rPr sz="1350" b="0" i="0">
                <a:solidFill>
                  <a:srgbClr val="23384E"/>
                </a:solidFill>
              </a:rPr>
              <a:t>Starts like single-state through stage 5, splits at stage 6, randomizes states, uses prob_neigh_mode=sum, updates all active particles, and disables trail at split.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18A09A-55F1-4A62-9F61-AEB5F9BB0315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9677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 i="0">
                <a:solidFill>
                  <a:srgbClr val="0E2841"/>
                </a:solidFill>
              </a:defRPr>
            </a:pPr>
            <a:r>
              <a:rPr sz="1725" b="0" i="0">
                <a:solidFill>
                  <a:srgbClr val="0E2841"/>
                </a:solidFill>
              </a:rPr>
              <a:t>When debugging regressions, compare the same variant and stop stage. A policy that helps a late multi-state dock can hurt an early single-state bootstrap.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3FE24F-DEE6-4925-BC3F-E98F91FBFBFB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5A6A7C"/>
                </a:solidFill>
              </a:defRPr>
            </a:pPr>
            <a:r>
              <a:rPr sz="825" b="0" i="0">
                <a:solidFill>
                  <a:srgbClr val="5A6A7C"/>
                </a:solidFill>
              </a:rPr>
              <a:t>Draft technical introduction for development discussion</a:t>
            </a:r>
          </a:p>
        </p:txBody>
      </p:sp>
    </p:spTree>
    <p:extLst>
      <p:ext uri="{BB962C8B-B14F-4D97-AF65-F5344CB8AC3E}">
        <p14:creationId xmlns:p14="http://schemas.microsoft.com/office/powerpoint/2010/main" val="377646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F296167-502C-492C-B72F-CDBA93088304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E97132"/>
                </a:solidFill>
              </a:defRPr>
            </a:pPr>
            <a:r>
              <a:rPr sz="900" b="1" i="0">
                <a:solidFill>
                  <a:srgbClr val="E97132"/>
                </a:solidFill>
              </a:rPr>
              <a:t>SIMPLE ABINITIO3D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9FB59E-505F-4D3A-B75F-2A07BC21B0F1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885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 i="0">
                <a:solidFill>
                  <a:srgbClr val="0E2841"/>
                </a:solidFill>
              </a:defRPr>
            </a:pPr>
            <a:r>
              <a:rPr sz="2700" b="1" i="0">
                <a:solidFill>
                  <a:srgbClr val="0E2841"/>
                </a:solidFill>
              </a:rPr>
              <a:t>Developer checklist for runs and regressions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1C2BF3-10BB-45E6-923C-33BC7308DA5E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5A6A7C"/>
                </a:solidFill>
              </a:defRPr>
            </a:pPr>
            <a:r>
              <a:rPr sz="1050" b="1" i="0">
                <a:solidFill>
                  <a:srgbClr val="5A6A7C"/>
                </a:solidFill>
              </a:rPr>
              <a:t>12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702FAD9-2A3B-428D-AB35-A4D22F67F928}"/>
              </a:ext>
            </a:extLst>
          </p:cNvPr>
          <p:cNvSpPr>
            <a:spLocks noGrp="1"/>
          </p:cNvSpPr>
          <p:nvPr/>
        </p:nvSpPr>
        <p:spPr>
          <a:xfrm>
            <a:off x="514350" y="1371600"/>
            <a:ext cx="11163300" cy="0"/>
          </a:xfrm>
          <a:prstGeom prst="line">
            <a:avLst/>
          </a:prstGeom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3570B3-781C-47E7-B7D9-542C16B2AC2B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5048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D970E98-5C16-449A-B370-215A445AD4F9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76200" cy="314325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FC6498-5943-4CCD-8B4D-13C6F1B28113}"/>
              </a:ext>
            </a:extLst>
          </p:cNvPr>
          <p:cNvSpPr>
            <a:spLocks noGrp="1"/>
          </p:cNvSpPr>
          <p:nvPr/>
        </p:nvSpPr>
        <p:spPr>
          <a:xfrm>
            <a:off x="914400" y="1866900"/>
            <a:ext cx="4629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Inspect emitted child policy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303752-6690-4683-BE76-F0C8626E3537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462915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 i="0">
                <a:solidFill>
                  <a:srgbClr val="23384E"/>
                </a:solidFill>
              </a:defRPr>
            </a:pPr>
            <a:r>
              <a:rPr sz="1500" b="0" i="0">
                <a:solidFill>
                  <a:srgbClr val="23384E"/>
                </a:solidFill>
              </a:rPr>
              <a:t>- refine and prob_neigh_mode per stage</a:t>
            </a:r>
          </a:p>
          <a:p>
            <a:pPr>
              <a:defRPr sz="1500" b="0" i="0">
                <a:solidFill>
                  <a:srgbClr val="23384E"/>
                </a:solidFill>
              </a:defRPr>
            </a:pPr>
            <a:r>
              <a:rPr sz="1500" b="0" i="0">
                <a:solidFill>
                  <a:srgbClr val="23384E"/>
                </a:solidFill>
              </a:rPr>
              <a:t>- nspace, maxits, trs, overlap, fracsrch</a:t>
            </a:r>
          </a:p>
          <a:p>
            <a:pPr>
              <a:defRPr sz="1500" b="0" i="0">
                <a:solidFill>
                  <a:srgbClr val="23384E"/>
                </a:solidFill>
              </a:defRPr>
            </a:pPr>
            <a:r>
              <a:rPr sz="1500" b="0" i="0">
                <a:solidFill>
                  <a:srgbClr val="23384E"/>
                </a:solidFill>
              </a:rPr>
              <a:t>- pgrp_start / pgrp transitions</a:t>
            </a:r>
          </a:p>
          <a:p>
            <a:pPr>
              <a:defRPr sz="1500" b="0" i="0">
                <a:solidFill>
                  <a:srgbClr val="23384E"/>
                </a:solidFill>
              </a:defRPr>
            </a:pPr>
            <a:r>
              <a:rPr sz="1500" b="0" i="0">
                <a:solidFill>
                  <a:srgbClr val="23384E"/>
                </a:solidFill>
              </a:rPr>
              <a:t>- filt_mode and lp values</a:t>
            </a:r>
          </a:p>
          <a:p>
            <a:pPr>
              <a:defRPr sz="1500" b="0" i="0">
                <a:solidFill>
                  <a:srgbClr val="23384E"/>
                </a:solidFill>
              </a:defRPr>
            </a:pPr>
            <a:r>
              <a:rPr sz="1500" b="0" i="0">
                <a:solidFill>
                  <a:srgbClr val="23384E"/>
                </a:solidFill>
              </a:rPr>
              <a:t>- update_frac, nsample, fillin, trail_rec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AA4D8FE-8FB2-4DCC-A4AA-646643F613AC}"/>
              </a:ext>
            </a:extLst>
          </p:cNvPr>
          <p:cNvSpPr>
            <a:spLocks noGrp="1"/>
          </p:cNvSpPr>
          <p:nvPr/>
        </p:nvSpPr>
        <p:spPr>
          <a:xfrm>
            <a:off x="6438900" y="1695450"/>
            <a:ext cx="5048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64B3264-41BD-4138-B3A3-D773CF2D29FF}"/>
              </a:ext>
            </a:extLst>
          </p:cNvPr>
          <p:cNvSpPr>
            <a:spLocks noGrp="1"/>
          </p:cNvSpPr>
          <p:nvPr/>
        </p:nvSpPr>
        <p:spPr>
          <a:xfrm>
            <a:off x="6438900" y="1695450"/>
            <a:ext cx="76200" cy="314325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08DE21-0026-4F9D-8405-B5647266EEAB}"/>
              </a:ext>
            </a:extLst>
          </p:cNvPr>
          <p:cNvSpPr>
            <a:spLocks noGrp="1"/>
          </p:cNvSpPr>
          <p:nvPr/>
        </p:nvSpPr>
        <p:spPr>
          <a:xfrm>
            <a:off x="6648450" y="1866900"/>
            <a:ext cx="4629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E2841"/>
                </a:solidFill>
              </a:defRPr>
            </a:pPr>
            <a:r>
              <a:rPr sz="1575" b="1" i="0">
                <a:solidFill>
                  <a:srgbClr val="0E2841"/>
                </a:solidFill>
              </a:rPr>
              <a:t>Interpret failure timing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F6209-ECDE-4C2C-9CC1-86BEFE0BFEDC}"/>
              </a:ext>
            </a:extLst>
          </p:cNvPr>
          <p:cNvSpPr>
            <a:spLocks noGrp="1"/>
          </p:cNvSpPr>
          <p:nvPr/>
        </p:nvSpPr>
        <p:spPr>
          <a:xfrm>
            <a:off x="6648450" y="2286000"/>
            <a:ext cx="462915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 i="0">
                <a:solidFill>
                  <a:srgbClr val="23384E"/>
                </a:solidFill>
              </a:defRPr>
            </a:pPr>
            <a:r>
              <a:rPr sz="1500" b="0" i="0">
                <a:solidFill>
                  <a:srgbClr val="23384E"/>
                </a:solidFill>
              </a:rPr>
              <a:t>- stage 1-2 failures suggest bootstrap search or initialization</a:t>
            </a:r>
          </a:p>
          <a:p>
            <a:pPr>
              <a:defRPr sz="1500" b="0" i="0">
                <a:solidFill>
                  <a:srgbClr val="23384E"/>
                </a:solidFill>
              </a:defRPr>
            </a:pPr>
            <a:r>
              <a:rPr sz="1500" b="0" i="0">
                <a:solidFill>
                  <a:srgbClr val="23384E"/>
                </a:solidFill>
              </a:rPr>
              <a:t>- stage 3 failures point at prob handoff and ML/conical policy</a:t>
            </a:r>
          </a:p>
          <a:p>
            <a:pPr>
              <a:defRPr sz="1500" b="0" i="0">
                <a:solidFill>
                  <a:srgbClr val="23384E"/>
                </a:solidFill>
              </a:defRPr>
            </a:pPr>
            <a:r>
              <a:rPr sz="1500" b="0" i="0">
                <a:solidFill>
                  <a:srgbClr val="23384E"/>
                </a:solidFill>
              </a:rPr>
              <a:t>- stage 5 failures implicate sampling and trailing reconstruction</a:t>
            </a:r>
          </a:p>
          <a:p>
            <a:pPr>
              <a:defRPr sz="1500" b="0" i="0">
                <a:solidFill>
                  <a:srgbClr val="23384E"/>
                </a:solidFill>
              </a:defRPr>
            </a:pPr>
            <a:r>
              <a:rPr sz="1500" b="0" i="0">
                <a:solidFill>
                  <a:srgbClr val="23384E"/>
                </a:solidFill>
              </a:rPr>
              <a:t>- stage 6+ failures implicate late prob_neigh and NU filtering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F0E19F-1EDF-450E-92E6-C616020AC644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5A6A7C"/>
                </a:solidFill>
              </a:defRPr>
            </a:pPr>
            <a:r>
              <a:rPr sz="825" b="0" i="0">
                <a:solidFill>
                  <a:srgbClr val="5A6A7C"/>
                </a:solidFill>
              </a:rPr>
              <a:t>Deck sources: simple_abinitio_controller.f90 and policy docs under doc/policies.</a:t>
            </a:r>
          </a:p>
        </p:txBody>
      </p:sp>
    </p:spTree>
    <p:extLst>
      <p:ext uri="{BB962C8B-B14F-4D97-AF65-F5344CB8AC3E}">
        <p14:creationId xmlns:p14="http://schemas.microsoft.com/office/powerpoint/2010/main" val="1614233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Microsoft Macintosh PowerPoint</Application>
  <DocSecurity>0</DocSecurity>
  <PresentationFormat>Widescreen</PresentationFormat>
  <Paragraphs>226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Elmlund, Hans (NIH/NCI) [E]</cp:lastModifiedBy>
  <cp:revision>1</cp:revision>
  <dcterms:created xsi:type="dcterms:W3CDTF">2026-06-27T18:45:22Z</dcterms:created>
  <dcterms:modified xsi:type="dcterms:W3CDTF">2026-06-27T19:17:36Z</dcterms:modified>
</cp:coreProperties>
</file>