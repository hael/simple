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678"/>
  </p:normalViewPr>
  <p:slideViewPr>
    <p:cSldViewPr snapToGrid="0">
      <p:cViewPr varScale="1">
        <p:scale>
          <a:sx n="122" d="100"/>
          <a:sy n="122" d="100"/>
        </p:scale>
        <p:origin x="1488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5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26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98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49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2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395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7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8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808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515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9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09A38A-D9A2-294D-9C2A-AD67358F3BA0}" type="datetimeFigureOut">
              <a:rPr lang="en-US" smtClean="0"/>
              <a:t>5/21/26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D0CBA-7B0A-834A-884E-541FDDF23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235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el/SIMPLE/wiki" TargetMode="External"/><Relationship Id="rId2" Type="http://schemas.openxmlformats.org/officeDocument/2006/relationships/hyperlink" Target="https://github.com/hael/SIMPL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5897148" cy="1600200"/>
          </a:xfrm>
        </p:spPr>
        <p:txBody>
          <a:bodyPr/>
          <a:lstStyle/>
          <a:p>
            <a:pPr marL="0" lvl="0" indent="0">
              <a:buNone/>
            </a:pPr>
            <a:r>
              <a:t>SIMPLE Git Repo Onboarding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t>Developer orientation: map, docs, wiki, and build environment</a:t>
            </a:r>
          </a:p>
          <a:p>
            <a:pPr marL="0" lvl="0" indent="0">
              <a:buNone/>
            </a:pPr>
            <a:r>
              <a:t>May 21, 2026</a:t>
            </a:r>
          </a:p>
        </p:txBody>
      </p:sp>
      <p:pic>
        <p:nvPicPr>
          <p:cNvPr id="3" name="Picture 1" descr="SIMPLE_logo/SIMPLE_logo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203700" y="3035300"/>
            <a:ext cx="5003800" cy="749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What SIMPLE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High-performance cryo-EM image processing and reconstruction platform.</a:t>
            </a:r>
          </a:p>
          <a:p>
            <a:pPr lvl="0"/>
            <a:r>
              <a:t>Turns movies, micrographs, and particle images into 2D class averages, 3D reconstructions, symmetry analysis, and structural models.</a:t>
            </a:r>
          </a:p>
          <a:p>
            <a:pPr lvl="0"/>
            <a:r>
              <a:t>Supports batch workflows, streaming pipelines, single workstations, and distributed HPC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7" y="133898"/>
            <a:ext cx="8543925" cy="1325563"/>
          </a:xfrm>
        </p:spPr>
        <p:txBody>
          <a:bodyPr/>
          <a:lstStyle/>
          <a:p>
            <a:pPr marL="0" lvl="0" indent="0">
              <a:buNone/>
            </a:pPr>
            <a:r>
              <a:t>First Pass Through the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6" y="1459461"/>
            <a:ext cx="8543925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>
                <a:latin typeface="Courier"/>
              </a:rPr>
              <a:t>README.md</a:t>
            </a:r>
            <a:r>
              <a:t>: project purpose, installation flow, release links, and update notes.</a:t>
            </a:r>
          </a:p>
          <a:p>
            <a:pPr lvl="0"/>
            <a:r>
              <a:rPr>
                <a:latin typeface="Courier"/>
              </a:rPr>
              <a:t>src/</a:t>
            </a:r>
            <a:r>
              <a:t>: Fortran library and domain implementation.</a:t>
            </a:r>
          </a:p>
          <a:p>
            <a:pPr lvl="0"/>
            <a:r>
              <a:rPr>
                <a:latin typeface="Courier"/>
              </a:rPr>
              <a:t>production/</a:t>
            </a:r>
            <a:r>
              <a:t>: executables plus executable tests.</a:t>
            </a:r>
          </a:p>
          <a:p>
            <a:pPr lvl="0"/>
            <a:r>
              <a:rPr>
                <a:latin typeface="Courier"/>
              </a:rPr>
              <a:t>scripts/</a:t>
            </a:r>
            <a:r>
              <a:t>: generated runtime helpers, install helpers, and utility scripts.</a:t>
            </a:r>
          </a:p>
          <a:p>
            <a:pPr lvl="0"/>
            <a:r>
              <a:rPr>
                <a:latin typeface="Courier"/>
              </a:rPr>
              <a:t>nice/</a:t>
            </a:r>
            <a:r>
              <a:t>: NICE Django GUI, classic batch GUI, stream GUI, and local launcher support.</a:t>
            </a:r>
          </a:p>
          <a:p>
            <a:pPr lvl="0"/>
            <a:r>
              <a:rPr>
                <a:latin typeface="Courier"/>
              </a:rPr>
              <a:t>doc/</a:t>
            </a:r>
            <a:r>
              <a:t>: developer guides, policies, code map, how-tos, tutorials, release notes.</a:t>
            </a:r>
          </a:p>
          <a:p>
            <a:pPr lvl="0"/>
            <a:r>
              <a:rPr>
                <a:latin typeface="Courier"/>
              </a:rPr>
              <a:t>build/</a:t>
            </a:r>
            <a:r>
              <a:t>: generated local build artifacts; useful for inspection, not source.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Mental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1478784"/>
            <a:ext cx="8543925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t>Infrastructure and platform services sit at the base: definitions, I/O, external libraries, system wrappers.</a:t>
            </a:r>
          </a:p>
          <a:p>
            <a:pPr lvl="0"/>
            <a:r>
              <a:t>Domain objects and numerical engines live in the middle: images, volumes, orientations, projects, CTF, motion, search, reconstruction, filtering.</a:t>
            </a:r>
          </a:p>
          <a:p>
            <a:pPr lvl="0"/>
            <a:r>
              <a:t>Commanders orchestrate workflows: they parse typed parameters, assemble context, dispatch strategies, and update project state.</a:t>
            </a:r>
          </a:p>
          <a:p>
            <a:pPr lvl="0"/>
            <a:r>
              <a:t>Executables are thin entry points around SIMPLE, SINGLE, stream, private, and test workflows.</a:t>
            </a:r>
          </a:p>
          <a:p>
            <a:pPr lvl="0"/>
            <a:r>
              <a:t>GUI code is a launcher, monitor, and project browser around the Fortran executables.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Architecture at a Glance</a:t>
            </a:r>
          </a:p>
        </p:txBody>
      </p:sp>
      <p:pic>
        <p:nvPicPr>
          <p:cNvPr id="3" name="Picture 1" descr="layered_arch/old/layered_arch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816100"/>
            <a:ext cx="55372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Codebase Map Is Your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Start with </a:t>
            </a:r>
            <a:r>
              <a:rPr>
                <a:latin typeface="Courier"/>
              </a:rPr>
              <a:t>doc/code_overview/code_base_map.md</a:t>
            </a:r>
            <a:r>
              <a:t>.</a:t>
            </a:r>
          </a:p>
          <a:p>
            <a:pPr lvl="0"/>
            <a:r>
              <a:t>Use it to find module ownership before searching manually.</a:t>
            </a:r>
          </a:p>
          <a:p>
            <a:pPr lvl="0"/>
            <a:r>
              <a:t>It names major directories, executable entry points, commanders, strategies, tests, GUI utilities, and queue-system utilities.</a:t>
            </a:r>
          </a:p>
          <a:p>
            <a:pPr lvl="0"/>
            <a:r>
              <a:t>Treat its vocabulary as the shared map: </a:t>
            </a:r>
            <a:r>
              <a:rPr>
                <a:latin typeface="Courier"/>
              </a:rPr>
              <a:t>builder</a:t>
            </a:r>
            <a:r>
              <a:t>, </a:t>
            </a:r>
            <a:r>
              <a:rPr>
                <a:latin typeface="Courier"/>
              </a:rPr>
              <a:t>parameters</a:t>
            </a:r>
            <a:r>
              <a:t>, </a:t>
            </a:r>
            <a:r>
              <a:rPr>
                <a:latin typeface="Courier"/>
              </a:rPr>
              <a:t>commander</a:t>
            </a:r>
            <a:r>
              <a:t>, </a:t>
            </a:r>
            <a:r>
              <a:rPr>
                <a:latin typeface="Courier"/>
              </a:rPr>
              <a:t>strategy</a:t>
            </a:r>
            <a:r>
              <a:t>, </a:t>
            </a:r>
            <a:r>
              <a:rPr>
                <a:latin typeface="Courier"/>
              </a:rPr>
              <a:t>sp_project</a:t>
            </a:r>
            <a:r>
              <a:t>, </a:t>
            </a:r>
            <a:r>
              <a:rPr>
                <a:latin typeface="Courier"/>
              </a:rPr>
              <a:t>image</a:t>
            </a:r>
            <a:r>
              <a:t>, </a:t>
            </a:r>
            <a:r>
              <a:rPr>
                <a:latin typeface="Courier"/>
              </a:rPr>
              <a:t>volume</a:t>
            </a:r>
            <a:r>
              <a:t>, </a:t>
            </a:r>
            <a:r>
              <a:rPr>
                <a:latin typeface="Courier"/>
              </a:rPr>
              <a:t>ori</a:t>
            </a:r>
            <a:r>
              <a:t>, </a:t>
            </a:r>
            <a:r>
              <a:rPr>
                <a:latin typeface="Courier"/>
              </a:rPr>
              <a:t>oris</a:t>
            </a:r>
            <a: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Developer Docs in </a:t>
            </a:r>
            <a:r>
              <a:rPr>
                <a:latin typeface="Courier"/>
              </a:rPr>
              <a:t>/doc</a:t>
            </a:r>
            <a:r>
              <a:t>: Start Here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73100" y="1816100"/>
          <a:ext cx="85344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New Developers 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code_overview/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Code base map in Markdown and Word formats.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for_developers/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Developer guide, architecture/design guide, performance refactoring guide, GUI onboarding, probability/projection notes, templates, diagrams, logos.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policies/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Scientific and architectural policies: </a:t>
                      </a:r>
                      <a:r>
                        <a:rPr>
                          <a:latin typeface="Courier"/>
                        </a:rPr>
                        <a:t>refine3D</a:t>
                      </a:r>
                      <a:r>
                        <a:t>, </a:t>
                      </a:r>
                      <a:r>
                        <a:rPr>
                          <a:latin typeface="Courier"/>
                        </a:rPr>
                        <a:t>abinitio2D</a:t>
                      </a:r>
                      <a:r>
                        <a:t>, nonuniform filtering, automasking, interpolation, persistent workers, sigma, picking, fractional updates.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how2s/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Short recipes for git, gdb, Fortran debugging, FFTW installation, and SLURM arrays.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002" y="133898"/>
            <a:ext cx="8543925" cy="1325563"/>
          </a:xfrm>
        </p:spPr>
        <p:txBody>
          <a:bodyPr/>
          <a:lstStyle/>
          <a:p>
            <a:pPr marL="0" lvl="0" indent="0">
              <a:buNone/>
            </a:pPr>
            <a:r>
              <a:t>More </a:t>
            </a:r>
            <a:r>
              <a:rPr>
                <a:latin typeface="Courier"/>
              </a:rPr>
              <a:t>/doc</a:t>
            </a:r>
            <a:r>
              <a:t> Resources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9611053"/>
              </p:ext>
            </p:extLst>
          </p:nvPr>
        </p:nvGraphicFramePr>
        <p:xfrm>
          <a:off x="599527" y="1280072"/>
          <a:ext cx="85344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What To Use It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algorithms/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Focused algorithm notes such as motion correction and NU filter/Potts prior material.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microchunk_and_rejection/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Microchunk/rejection model integration, model class-average rejection, and policy docs.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refactoring_notes/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Design records for CMake, global-state removal, PFTC ranges, image/string/exec notes, and probability-neighborhood refactors.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simple_tutorials/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Tutorial source and workflow figures for examples and user-facing walkthroughs.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release_notes/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Historical release notes.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README_old.txt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Legacy installation/reference material; useful when comparing older instructions.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583" y="112878"/>
            <a:ext cx="8543925" cy="1325563"/>
          </a:xfrm>
        </p:spPr>
        <p:txBody>
          <a:bodyPr/>
          <a:lstStyle/>
          <a:p>
            <a:pPr marL="0" lvl="0" indent="0">
              <a:buNone/>
            </a:pPr>
            <a:r>
              <a:t>Build &amp; Compilation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651" y="1594998"/>
            <a:ext cx="8543925" cy="4351338"/>
          </a:xfrm>
        </p:spPr>
        <p:txBody>
          <a:bodyPr>
            <a:normAutofit fontScale="77500" lnSpcReduction="20000"/>
          </a:bodyPr>
          <a:lstStyle/>
          <a:p>
            <a:pPr lvl="0"/>
            <a:r>
              <a:t>Current checkout is CMake-first: root </a:t>
            </a:r>
            <a:r>
              <a:rPr>
                <a:latin typeface="Courier"/>
              </a:rPr>
              <a:t>CMakeLists.txt</a:t>
            </a:r>
            <a:r>
              <a:t> is the entry point and exports </a:t>
            </a:r>
            <a:r>
              <a:rPr>
                <a:latin typeface="Courier"/>
              </a:rPr>
              <a:t>compile_commands.json</a:t>
            </a:r>
            <a:r>
              <a:t>.</a:t>
            </a:r>
          </a:p>
          <a:p>
            <a:pPr lvl="0"/>
            <a:r>
              <a:t>This checkout requires CMake 3.25+ and GCC/GFortran 14+ in the active CMake path.</a:t>
            </a:r>
          </a:p>
          <a:p>
            <a:pPr lvl="0"/>
            <a:r>
              <a:t>Required dependencies include FFTW3, TIFF/JPEG/ZLIB, libcurl; NICE work also needs the Python/Django web stack.</a:t>
            </a:r>
          </a:p>
          <a:p>
            <a:pPr lvl="0"/>
            <a:r>
              <a:t>Defaults: </a:t>
            </a:r>
            <a:r>
              <a:rPr>
                <a:latin typeface="Courier"/>
              </a:rPr>
              <a:t>USE_OPENMP=ON</a:t>
            </a:r>
            <a:r>
              <a:t>, </a:t>
            </a:r>
            <a:r>
              <a:rPr>
                <a:latin typeface="Courier"/>
              </a:rPr>
              <a:t>BUILD_TESTS=ON</a:t>
            </a:r>
            <a:r>
              <a:t>, </a:t>
            </a:r>
            <a:r>
              <a:rPr>
                <a:latin typeface="Courier"/>
              </a:rPr>
              <a:t>NICE=OFF</a:t>
            </a:r>
            <a:r>
              <a:t>, local install prefix under </a:t>
            </a:r>
            <a:r>
              <a:rPr>
                <a:latin typeface="Courier"/>
              </a:rPr>
              <a:t>build/</a:t>
            </a:r>
            <a:r>
              <a:t>.</a:t>
            </a:r>
          </a:p>
          <a:p>
            <a:pPr lvl="0"/>
            <a:r>
              <a:t>Optional paths: </a:t>
            </a:r>
            <a:r>
              <a:rPr>
                <a:latin typeface="Courier"/>
              </a:rPr>
              <a:t>NICE=ON</a:t>
            </a:r>
            <a:r>
              <a:t>, </a:t>
            </a:r>
            <a:r>
              <a:rPr>
                <a:latin typeface="Courier"/>
              </a:rPr>
              <a:t>USE_OPENMP_OFFLOAD=ON</a:t>
            </a:r>
            <a:r>
              <a:t>, </a:t>
            </a:r>
            <a:r>
              <a:rPr>
                <a:latin typeface="Courier"/>
              </a:rPr>
              <a:t>USE_OPENACC</a:t>
            </a:r>
            <a:r>
              <a:t>, </a:t>
            </a:r>
            <a:r>
              <a:rPr>
                <a:latin typeface="Courier"/>
              </a:rPr>
              <a:t>USE_COARRAYS</a:t>
            </a:r>
            <a:r>
              <a:t>, </a:t>
            </a:r>
            <a:r>
              <a:rPr>
                <a:latin typeface="Courier"/>
              </a:rPr>
              <a:t>USE_MPI</a:t>
            </a:r>
            <a:r>
              <a:t>.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mkdir</a:t>
            </a:r>
            <a:r>
              <a:rPr>
                <a:latin typeface="Courier"/>
              </a:rPr>
              <a:t> build</a:t>
            </a:r>
            <a:br/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build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cmake</a:t>
            </a:r>
            <a:r>
              <a:rPr>
                <a:latin typeface="Courier"/>
              </a:rPr>
              <a:t> ..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cmake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--build</a:t>
            </a:r>
            <a:r>
              <a:rPr>
                <a:latin typeface="Courier"/>
              </a:rPr>
              <a:t> . </a:t>
            </a:r>
            <a:r>
              <a:rPr>
                <a:solidFill>
                  <a:srgbClr val="7D9029"/>
                </a:solidFill>
                <a:latin typeface="Courier"/>
              </a:rPr>
              <a:t>--parallel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cmake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7D9029"/>
                </a:solidFill>
                <a:latin typeface="Courier"/>
              </a:rPr>
              <a:t>--install</a:t>
            </a:r>
            <a:r>
              <a:rPr>
                <a:latin typeface="Courier"/>
              </a:rPr>
              <a:t> 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Build Scripts You Will See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8390" y="1597573"/>
            <a:ext cx="7390907" cy="4771696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>
                <a:latin typeface="Courier"/>
              </a:rPr>
              <a:t>compile_clean.sh</a:t>
            </a:r>
            <a:r>
              <a:t>: clean release-style build.</a:t>
            </a:r>
          </a:p>
          <a:p>
            <a:pPr lvl="0"/>
            <a:r>
              <a:rPr>
                <a:latin typeface="Courier"/>
              </a:rPr>
              <a:t>compile_debug.sh</a:t>
            </a:r>
            <a:r>
              <a:t>: debug build.</a:t>
            </a:r>
          </a:p>
          <a:p>
            <a:pPr lvl="0"/>
            <a:r>
              <a:rPr>
                <a:latin typeface="Courier"/>
              </a:rPr>
              <a:t>compile_gpu.sh</a:t>
            </a:r>
            <a:r>
              <a:t>: OpenMP offload build.</a:t>
            </a:r>
          </a:p>
          <a:p>
            <a:pPr lvl="0"/>
            <a:r>
              <a:rPr>
                <a:latin typeface="Courier"/>
              </a:rPr>
              <a:t>compile_gui.sh</a:t>
            </a:r>
            <a:r>
              <a:t>: NICE-enabled build.</a:t>
            </a:r>
          </a:p>
          <a:p>
            <a:pPr lvl="0"/>
            <a:r>
              <a:rPr>
                <a:latin typeface="Courier"/>
              </a:rPr>
              <a:t>compile_conda.sh</a:t>
            </a:r>
            <a:r>
              <a:t>: conda-provisioned GCC/GFortran, FFTW, TIFF, JPEG, Python, and CMake environment.</a:t>
            </a:r>
          </a:p>
          <a:p>
            <a:pPr lvl="0"/>
            <a:r>
              <a:rPr>
                <a:latin typeface="Courier"/>
              </a:rPr>
              <a:t>compile_csbclust.sh</a:t>
            </a:r>
            <a:r>
              <a:t>: module-based HPC build.</a:t>
            </a:r>
          </a:p>
          <a:p>
            <a:pPr lvl="0"/>
            <a:r>
              <a:t>After install: source </a:t>
            </a:r>
            <a:r>
              <a:rPr>
                <a:latin typeface="Courier"/>
              </a:rPr>
              <a:t>build/add2.bashrc</a:t>
            </a:r>
            <a:r>
              <a:t>, or add </a:t>
            </a:r>
            <a:r>
              <a:rPr>
                <a:latin typeface="Courier"/>
              </a:rPr>
              <a:t>build/bin</a:t>
            </a:r>
            <a:r>
              <a:t>, </a:t>
            </a:r>
            <a:r>
              <a:rPr>
                <a:latin typeface="Courier"/>
              </a:rPr>
              <a:t>build/scripts</a:t>
            </a:r>
            <a:r>
              <a:t>, and </a:t>
            </a:r>
            <a:r>
              <a:rPr>
                <a:latin typeface="Courier"/>
              </a:rPr>
              <a:t>SIMPLE_PATH</a:t>
            </a:r>
            <a:r>
              <a:t> manually.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48" y="18255"/>
            <a:ext cx="8543925" cy="1325563"/>
          </a:xfrm>
        </p:spPr>
        <p:txBody>
          <a:bodyPr/>
          <a:lstStyle/>
          <a:p>
            <a:pPr marL="0" lvl="0" indent="0">
              <a:buNone/>
            </a:pPr>
            <a:r>
              <a:t>Wiki, CI, and Team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6650" y="1436742"/>
            <a:ext cx="8543925" cy="4351338"/>
          </a:xfrm>
        </p:spPr>
        <p:txBody>
          <a:bodyPr>
            <a:normAutofit fontScale="85000" lnSpcReduction="20000"/>
          </a:bodyPr>
          <a:lstStyle/>
          <a:p>
            <a:pPr lvl="0"/>
            <a:r>
              <a:t>Repo: </a:t>
            </a:r>
            <a:r>
              <a:rPr>
                <a:hlinkClick r:id="rId2"/>
              </a:rPr>
              <a:t>https://github.com/hael/SIMPLE</a:t>
            </a:r>
          </a:p>
          <a:p>
            <a:pPr lvl="0"/>
            <a:r>
              <a:t>Wiki: </a:t>
            </a:r>
            <a:r>
              <a:rPr>
                <a:hlinkClick r:id="rId3"/>
              </a:rPr>
              <a:t>https://github.com/hael/SIMPLE/wiki</a:t>
            </a:r>
          </a:p>
          <a:p>
            <a:pPr lvl="0"/>
            <a:r>
              <a:t>CI: GitHub Actions build/test workflow is linked from </a:t>
            </a:r>
            <a:r>
              <a:rPr>
                <a:latin typeface="Courier"/>
              </a:rPr>
              <a:t>README.md</a:t>
            </a:r>
            <a:r>
              <a:t>.</a:t>
            </a:r>
          </a:p>
          <a:p>
            <a:pPr lvl="0"/>
            <a:r>
              <a:t>Use local </a:t>
            </a:r>
            <a:r>
              <a:rPr>
                <a:latin typeface="Courier"/>
              </a:rPr>
              <a:t>/doc</a:t>
            </a:r>
            <a:r>
              <a:t> for implementation-level guidance; use the wiki for project-level orientation.</a:t>
            </a:r>
          </a:p>
          <a:p>
            <a:pPr lvl="0"/>
            <a:r>
              <a:t>Before changing scientific behavior, read the nearest policy or refactoring note.</a:t>
            </a:r>
          </a:p>
          <a:p>
            <a:pPr lvl="0"/>
            <a:r>
              <a:t>For new command-line parameters, add typed support through </a:t>
            </a:r>
            <a:r>
              <a:rPr>
                <a:latin typeface="Courier"/>
              </a:rPr>
              <a:t>src/main/simple_parameters.f90</a:t>
            </a:r>
            <a:r>
              <a:t> and downstream </a:t>
            </a:r>
            <a:r>
              <a:rPr>
                <a:latin typeface="Courier"/>
              </a:rPr>
              <a:t>params%...</a:t>
            </a:r>
            <a:r>
              <a:t> usage.</a:t>
            </a:r>
          </a:p>
          <a:p>
            <a:pPr lvl="0"/>
            <a:r>
              <a:t>Add or run the closest executable tests under </a:t>
            </a:r>
            <a:r>
              <a:rPr>
                <a:latin typeface="Courier"/>
              </a:rPr>
              <a:t>production/tests</a:t>
            </a:r>
            <a: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769" y="0"/>
            <a:ext cx="8543925" cy="1325563"/>
          </a:xfrm>
        </p:spPr>
        <p:txBody>
          <a:bodyPr/>
          <a:lstStyle/>
          <a:p>
            <a:pPr marL="0" lvl="0" indent="0">
              <a:buNone/>
            </a:pPr>
            <a:r>
              <a:t>Suggested First-Day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597572"/>
            <a:ext cx="8378879" cy="4445876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buAutoNum type="arabicPeriod"/>
            </a:pPr>
            <a:r>
              <a:t>Build once with manual CMake or the closest helper script.</a:t>
            </a:r>
          </a:p>
          <a:p>
            <a:pPr marL="457200" lvl="0" indent="-457200">
              <a:buAutoNum type="arabicPeriod"/>
            </a:pPr>
            <a:r>
              <a:t>Read </a:t>
            </a:r>
            <a:r>
              <a:rPr>
                <a:latin typeface="Courier"/>
              </a:rPr>
              <a:t>README.md</a:t>
            </a:r>
            <a:r>
              <a:t>, </a:t>
            </a:r>
            <a:r>
              <a:rPr>
                <a:latin typeface="Courier"/>
              </a:rPr>
              <a:t>doc/code_overview/code_base_map.md</a:t>
            </a:r>
            <a:r>
              <a:t>, and the relevant developer guide.</a:t>
            </a:r>
          </a:p>
          <a:p>
            <a:pPr marL="457200" lvl="0" indent="-457200">
              <a:buAutoNum type="arabicPeriod"/>
            </a:pPr>
            <a:r>
              <a:t>Trace one command from </a:t>
            </a:r>
            <a:r>
              <a:rPr>
                <a:latin typeface="Courier"/>
              </a:rPr>
              <a:t>src/main/ui</a:t>
            </a:r>
            <a:r>
              <a:t> to commander, strategy/domain code, and project output.</a:t>
            </a:r>
          </a:p>
          <a:p>
            <a:pPr marL="457200" lvl="0" indent="-457200">
              <a:buAutoNum type="arabicPeriod"/>
            </a:pPr>
            <a:r>
              <a:t>Keep </a:t>
            </a:r>
            <a:r>
              <a:rPr>
                <a:latin typeface="Courier"/>
              </a:rPr>
              <a:t>doc/policies/</a:t>
            </a:r>
            <a:r>
              <a:t> open when touching scientific behavior.</a:t>
            </a:r>
          </a:p>
          <a:p>
            <a:pPr marL="457200" lvl="0" indent="-457200">
              <a:buAutoNum type="arabicPeriod"/>
            </a:pPr>
            <a:r>
              <a:t>Use </a:t>
            </a:r>
            <a:r>
              <a:rPr>
                <a:latin typeface="Courier"/>
              </a:rPr>
              <a:t>doc/how2s/</a:t>
            </a:r>
            <a:r>
              <a:t> for day-to-day mechanics: git, gdb, Fortran debugging, FFTW, SLURM.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1015</Words>
  <Application>Microsoft Macintosh PowerPoint</Application>
  <PresentationFormat>A4 Paper (210x297 mm)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Courier</vt:lpstr>
      <vt:lpstr>Office Theme</vt:lpstr>
      <vt:lpstr>SIMPLE Git Repo Onboarding</vt:lpstr>
      <vt:lpstr>What SIMPLE Is</vt:lpstr>
      <vt:lpstr>First Pass Through the Repo</vt:lpstr>
      <vt:lpstr>Mental Model</vt:lpstr>
      <vt:lpstr>Architecture at a Glance</vt:lpstr>
      <vt:lpstr>Codebase Map Is Your Index</vt:lpstr>
      <vt:lpstr>Developer Docs in /doc: Start Here</vt:lpstr>
      <vt:lpstr>More /doc Resources</vt:lpstr>
      <vt:lpstr>Build &amp; Compilation Environment</vt:lpstr>
      <vt:lpstr>Build Scripts You Will See</vt:lpstr>
      <vt:lpstr>Wiki, CI, and Team Workflow</vt:lpstr>
      <vt:lpstr>Suggested First-Day Path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Office Theme</Template>
  <TotalTime>583</TotalTime>
  <Words>298</Words>
  <Application>Microsoft Macintosh PowerPoint</Application>
  <PresentationFormat>A4 Paper (210x297 mm)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Consolas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Elmlund, Hans (NIH/NCI) [E]</cp:lastModifiedBy>
  <cp:revision>1</cp:revision>
  <dcterms:created xsi:type="dcterms:W3CDTF">2026-05-21T12:47:03Z</dcterms:created>
  <dcterms:modified xsi:type="dcterms:W3CDTF">2026-05-21T12:52:48Z</dcterms:modified>
</cp:coreProperties>
</file>