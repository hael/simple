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34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cue: connect the earlier hill-climbing slides to SIMPLE by saying that local search proposes plausible poses, while the probabilistic path decides which candidate lands in the orientation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cue: emphasize ownership. Candidate generation, probability tables, assignment maps, and pose updates are particle-domain work; volassemble consumes the chosen assignments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cue: avoid implying that every mode has the same control flow. The common teaching handle is the sampler role: modes differ in how they generate and prune candidate orientations.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Speaker cue: use this as the exact wording slide. It distinguishes probability-like candidate generation from the discrete assignment that drives reconstruction.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309360"/>
            <a:ext cx="10972800" cy="0"/>
          </a:xfrm>
          <a:prstGeom prst="line">
            <a:avLst/>
          </a:prstGeom>
          <a:noFill/>
          <a:ln w="6350">
            <a:solidFill>
              <a:srgbClr val="D9CDB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4282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8D7B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Hill-Climbing Optimization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" y="1051560"/>
            <a:ext cx="61447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Hill-Climbing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 Algorithms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4944" y="24871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Reviewed and converted into a presentation deck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94944" y="32461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search  •  Stochastic sampling  •  Neighborhood control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5160" y="1024128"/>
            <a:ext cx="4480560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" y="3886200"/>
            <a:ext cx="4023360" cy="0"/>
          </a:xfrm>
          <a:prstGeom prst="line">
            <a:avLst/>
          </a:prstGeom>
          <a:noFill/>
          <a:ln w="1778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94944" y="41605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simple best-neighbor moves to randomized, radius-controlled search.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GREEDY LOCAL SEARCH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hill climbing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700784"/>
            <a:ext cx="46177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a solution, evaluate neighboring solutions, and always move to a better one. Repeat until no better neighbor exists.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LOOP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246888" cy="246888"/>
          </a:xfrm>
          <a:prstGeom prst="ellipse">
            <a:avLst/>
          </a:prstGeom>
          <a:solidFill>
            <a:srgbClr val="285A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15925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69848" y="30861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an initial solution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246888" cy="246888"/>
          </a:xfrm>
          <a:prstGeom prst="ellipse">
            <a:avLst/>
          </a:prstGeom>
          <a:solidFill>
            <a:srgbClr val="D98E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66217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69848" y="35890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all neighbors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246888" cy="246888"/>
          </a:xfrm>
          <a:prstGeom prst="ellipse">
            <a:avLst/>
          </a:prstGeom>
          <a:solidFill>
            <a:srgbClr val="D98E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416509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69848" y="40919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to the best neighbor if it improves the objective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246888" cy="246888"/>
          </a:xfrm>
          <a:prstGeom prst="ellipse">
            <a:avLst/>
          </a:prstGeom>
          <a:solidFill>
            <a:srgbClr val="0F7C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66801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069848" y="45948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no improvement is available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85800" y="5340096"/>
            <a:ext cx="0" cy="640080"/>
          </a:xfrm>
          <a:prstGeom prst="line">
            <a:avLst/>
          </a:prstGeom>
          <a:noFill/>
          <a:ln w="38100">
            <a:solidFill>
              <a:srgbClr val="C441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528523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4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68680" y="5577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hill climbing is deterministic and greedy. It can get trapped at a local optimum even when a better global optimum exists elsewhere.</a:t>
            </a:r>
            <a:endParaRPr lang="en-US" sz="133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0760" y="1261872"/>
            <a:ext cx="5349240" cy="30175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172200" y="46177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path ends at the first local peak it reaches.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RANDOMIZED NEIGHBOR SELECTION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Stochastic hill climbing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4264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709928"/>
            <a:ext cx="47548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evaluating every neighbor, sample one neighbor at random. Accept it only if it improves the current solution.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157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LOOP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3054096"/>
            <a:ext cx="246888" cy="246888"/>
          </a:xfrm>
          <a:prstGeom prst="ellipse">
            <a:avLst/>
          </a:prstGeom>
          <a:solidFill>
            <a:srgbClr val="285A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104388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69848" y="30312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an initial solution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685800" y="3557016"/>
            <a:ext cx="246888" cy="246888"/>
          </a:xfrm>
          <a:prstGeom prst="ellipse">
            <a:avLst/>
          </a:prstGeom>
          <a:solidFill>
            <a:srgbClr val="D98E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607308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69848" y="35341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random neighbor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85800" y="4059936"/>
            <a:ext cx="246888" cy="246888"/>
          </a:xfrm>
          <a:prstGeom prst="ellipse">
            <a:avLst/>
          </a:prstGeom>
          <a:solidFill>
            <a:srgbClr val="D98E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4110228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69848" y="40370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it if it is better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85800" y="4562856"/>
            <a:ext cx="246888" cy="246888"/>
          </a:xfrm>
          <a:prstGeom prst="ellipse">
            <a:avLst/>
          </a:prstGeom>
          <a:solidFill>
            <a:srgbClr val="0F7C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613148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069848" y="45399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Otherwise discard it and sample again</a:t>
            </a:r>
            <a:endParaRPr lang="en-US" sz="142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9320" y="1243584"/>
            <a:ext cx="5394960" cy="303580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85800" y="5157216"/>
            <a:ext cx="0" cy="758952"/>
          </a:xfrm>
          <a:prstGeom prst="line">
            <a:avLst/>
          </a:prstGeom>
          <a:noFill/>
          <a:ln w="38100">
            <a:solidFill>
              <a:srgbClr val="0F7C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68680" y="51023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7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ADVANTAGE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868680" y="5394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cost per step: useful when the neighbor set is huge or expensive to fully evaluate.</a:t>
            </a:r>
            <a:endParaRPr lang="en-US" sz="1330" dirty="0"/>
          </a:p>
        </p:txBody>
      </p:sp>
      <p:sp>
        <p:nvSpPr>
          <p:cNvPr id="23" name="Shape 20"/>
          <p:cNvSpPr/>
          <p:nvPr/>
        </p:nvSpPr>
        <p:spPr>
          <a:xfrm>
            <a:off x="3566160" y="5157216"/>
            <a:ext cx="0" cy="758952"/>
          </a:xfrm>
          <a:prstGeom prst="line">
            <a:avLst/>
          </a:prstGeom>
          <a:noFill/>
          <a:ln w="38100">
            <a:solidFill>
              <a:srgbClr val="C441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749040" y="51023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4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LIMITED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749040" y="53949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it still only accepts improvements, it can still get stuck at local optima.</a:t>
            </a:r>
            <a:endParaRPr lang="en-US" sz="1330" dirty="0"/>
          </a:p>
        </p:txBody>
      </p:sp>
      <p:sp>
        <p:nvSpPr>
          <p:cNvPr id="26" name="Shape 23"/>
          <p:cNvSpPr/>
          <p:nvPr/>
        </p:nvSpPr>
        <p:spPr>
          <a:xfrm>
            <a:off x="6172200" y="4590288"/>
            <a:ext cx="1124712" cy="292608"/>
          </a:xfrm>
          <a:prstGeom prst="roundRect">
            <a:avLst>
              <a:gd name="adj" fmla="val 21875"/>
            </a:avLst>
          </a:prstGeom>
          <a:solidFill>
            <a:srgbClr val="DDECE7"/>
          </a:solidFill>
          <a:ln w="12700">
            <a:solidFill>
              <a:srgbClr val="DDEC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72200" y="4668012"/>
            <a:ext cx="112471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candidate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7406640" y="4590288"/>
            <a:ext cx="918972" cy="292608"/>
          </a:xfrm>
          <a:prstGeom prst="roundRect">
            <a:avLst>
              <a:gd name="adj" fmla="val 21875"/>
            </a:avLst>
          </a:prstGeom>
          <a:solidFill>
            <a:srgbClr val="F5E4CD"/>
          </a:solidFill>
          <a:ln w="12700">
            <a:solidFill>
              <a:srgbClr val="F5E4C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406640" y="4668012"/>
            <a:ext cx="91897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path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8435340" y="4590288"/>
            <a:ext cx="1330452" cy="292608"/>
          </a:xfrm>
          <a:prstGeom prst="roundRect">
            <a:avLst>
              <a:gd name="adj" fmla="val 21875"/>
            </a:avLst>
          </a:prstGeom>
          <a:solidFill>
            <a:srgbClr val="F3DEDC"/>
          </a:solidFill>
          <a:ln w="12700">
            <a:solidFill>
              <a:srgbClr val="F3DED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435340" y="4668012"/>
            <a:ext cx="1330452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acceptance</a:t>
            </a:r>
            <a:endParaRPr lang="en-US" sz="7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SIDE-BY-SIDE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 vs. stochastic hill climbing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789920" cy="0"/>
          </a:xfrm>
          <a:prstGeom prst="line">
            <a:avLst/>
          </a:prstGeom>
          <a:noFill/>
          <a:ln w="15240">
            <a:solidFill>
              <a:srgbClr val="1F29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22376" y="151790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34056" y="1517904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hill climbing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6016" y="1517904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Stochastic hill climbing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938528"/>
            <a:ext cx="10789920" cy="0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2376" y="208483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Neighbor selection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734056" y="2084832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all neighbors, pick the best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86016" y="2084832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one random neighbor per step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505456"/>
            <a:ext cx="10789920" cy="0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" y="26517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per step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34056" y="2651760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O(neighbors) evaluations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86016" y="2651760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candidate evaluation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072384"/>
            <a:ext cx="10789920" cy="0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2376" y="321868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rule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734056" y="3218688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only the best improving neighbor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86016" y="3218688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any sampled improvement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3639312"/>
            <a:ext cx="10789920" cy="0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" y="37856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Determinism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734056" y="3785616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for a fixed start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86016" y="3785616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runs may follow different paths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206240"/>
            <a:ext cx="10789920" cy="0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2376" y="435254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optima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734056" y="4352544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Gets stuck when no neighbor improves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86016" y="4352544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gets stuck, but may reach different local peaks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" y="4773168"/>
            <a:ext cx="10789920" cy="0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2376" y="491947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used when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2734056" y="4919472"/>
            <a:ext cx="4105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Small, cheap-to-evaluate neighbor sets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86016" y="4919472"/>
            <a:ext cx="4379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or expensive neighbor sets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5340096"/>
            <a:ext cx="10789920" cy="0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697480" y="1371600"/>
            <a:ext cx="0" cy="3968496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49440" y="1371600"/>
            <a:ext cx="0" cy="3968496"/>
          </a:xfrm>
          <a:prstGeom prst="line">
            <a:avLst/>
          </a:prstGeom>
          <a:noFill/>
          <a:ln w="8255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800" y="5779008"/>
            <a:ext cx="10835640" cy="0"/>
          </a:xfrm>
          <a:prstGeom prst="line">
            <a:avLst/>
          </a:prstGeom>
          <a:noFill/>
          <a:ln w="1270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5943600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takeaway: both are greedy — they only accept improving moves. Randomness changes how candidates are sampled, not the acceptance rule.</a:t>
            </a:r>
            <a:endParaRPr lang="en-US" sz="133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STRUCTURED SAMPLING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Stochastic neighborhood hill climbing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EXTENSION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700784"/>
            <a:ext cx="48463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 neighborhood around the current solution, then sample candidates randomly within that neighborhood. The size and shape of the neighborhood become search parameters.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246888" cy="246888"/>
          </a:xfrm>
          <a:prstGeom prst="ellipse">
            <a:avLst/>
          </a:prstGeom>
          <a:solidFill>
            <a:srgbClr val="285A9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315925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69848" y="30861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 neighborhood, such as a radius 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246888" cy="246888"/>
          </a:xfrm>
          <a:prstGeom prst="ellipse">
            <a:avLst/>
          </a:prstGeom>
          <a:solidFill>
            <a:srgbClr val="D98E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66217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069848" y="35890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a candidate inside 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246888" cy="246888"/>
          </a:xfrm>
          <a:prstGeom prst="ellipse">
            <a:avLst/>
          </a:prstGeom>
          <a:solidFill>
            <a:srgbClr val="D98E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416509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069848" y="40919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if the candidate improves the objective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246888" cy="246888"/>
          </a:xfrm>
          <a:prstGeom prst="ellipse">
            <a:avLst/>
          </a:prstGeom>
          <a:solidFill>
            <a:srgbClr val="0F7C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4668012"/>
            <a:ext cx="246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069848" y="45948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 radius or operators over time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3328" y="1225296"/>
            <a:ext cx="5303520" cy="2971800"/>
          </a:xfrm>
          <a:prstGeom prst="rect">
            <a:avLst/>
          </a:prstGeom>
        </p:spPr>
      </p:pic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3328" y="4480560"/>
            <a:ext cx="5303520" cy="181051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85800" y="5294376"/>
            <a:ext cx="0" cy="850392"/>
          </a:xfrm>
          <a:prstGeom prst="line">
            <a:avLst/>
          </a:prstGeom>
          <a:noFill/>
          <a:ln w="38100">
            <a:solidFill>
              <a:srgbClr val="D98E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68680" y="523951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REFINEMENT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868680" y="5532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larger neighborhood can help jump beyond a local peak only when it samples a better solution within reach. For reliable escape, methods often add restarts, sideways moves, or simulated annealing.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MENTAL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algorithms relate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325880"/>
            <a:ext cx="10881360" cy="4407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59070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3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standard HC when neighbor sets are small. Use stochastic HC when evaluation is expensive. Use neighborhood SHC when you need tunable exploration radius or problem-specific moves.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594360" y="301752"/>
            <a:ext cx="520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BRIDGE TO SIMPLE</a:t>
            </a:r>
            <a:endParaRPr lang="en-US" dirty="0"/>
          </a:p>
        </p:txBody>
      </p:sp>
      <p:sp>
        <p:nvSpPr>
          <p:cNvPr id="3" name="Slide title"/>
          <p:cNvSpPr/>
          <p:nvPr/>
        </p:nvSpPr>
        <p:spPr>
          <a:xfrm>
            <a:off x="594360" y="566928"/>
            <a:ext cx="9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Hill-climbers become proposal engines</a:t>
            </a:r>
            <a:endParaRPr lang="en-US" dirty="0"/>
          </a:p>
        </p:txBody>
      </p:sp>
      <p:sp>
        <p:nvSpPr>
          <p:cNvPr id="10" name="Card 1"/>
          <p:cNvSpPr/>
          <p:nvPr/>
        </p:nvSpPr>
        <p:spPr>
          <a:xfrm>
            <a:off x="685800" y="1540000"/>
            <a:ext cx="3000000" cy="185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tep 1"/>
          <p:cNvSpPr/>
          <p:nvPr/>
        </p:nvSpPr>
        <p:spPr>
          <a:xfrm>
            <a:off x="865800" y="1730000"/>
            <a:ext cx="330000" cy="330000"/>
          </a:xfrm>
          <a:prstGeom prst="ellipse">
            <a:avLst/>
          </a:prstGeom>
          <a:solidFill>
            <a:srgbClr val="285A9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 number 1"/>
          <p:cNvSpPr/>
          <p:nvPr/>
        </p:nvSpPr>
        <p:spPr>
          <a:xfrm>
            <a:off x="865800" y="1785000"/>
            <a:ext cx="33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dirty="0"/>
          </a:p>
        </p:txBody>
      </p:sp>
      <p:sp>
        <p:nvSpPr>
          <p:cNvPr id="13" name="Card title 1"/>
          <p:cNvSpPr/>
          <p:nvPr/>
        </p:nvSpPr>
        <p:spPr>
          <a:xfrm>
            <a:off x="1295800" y="1710000"/>
            <a:ext cx="222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orientation sampler</a:t>
            </a:r>
            <a:endParaRPr lang="en-US" dirty="0"/>
          </a:p>
        </p:txBody>
      </p:sp>
      <p:sp>
        <p:nvSpPr>
          <p:cNvPr id="14" name="Card body 1"/>
          <p:cNvSpPr/>
          <p:nvPr/>
        </p:nvSpPr>
        <p:spPr>
          <a:xfrm>
            <a:off x="945800" y="2230000"/>
            <a:ext cx="248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or stochastic search explores nearby projection directions, in-plane angles, shifts, and states.</a:t>
            </a:r>
            <a:endParaRPr lang="en-US" dirty="0"/>
          </a:p>
        </p:txBody>
      </p:sp>
      <p:sp>
        <p:nvSpPr>
          <p:cNvPr id="50" name="Arrow"/>
          <p:cNvSpPr/>
          <p:nvPr/>
        </p:nvSpPr>
        <p:spPr>
          <a:xfrm>
            <a:off x="3755800" y="2450000"/>
            <a:ext cx="230000" cy="0"/>
          </a:xfrm>
          <a:prstGeom prst="line">
            <a:avLst/>
          </a:prstGeom>
          <a:noFill/>
          <a:ln w="25400">
            <a:solidFill>
              <a:srgbClr val="285A9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 2"/>
          <p:cNvSpPr/>
          <p:nvPr/>
        </p:nvSpPr>
        <p:spPr>
          <a:xfrm>
            <a:off x="4055800" y="1540000"/>
            <a:ext cx="3000000" cy="185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tep 2"/>
          <p:cNvSpPr/>
          <p:nvPr/>
        </p:nvSpPr>
        <p:spPr>
          <a:xfrm>
            <a:off x="4235800" y="1730000"/>
            <a:ext cx="330000" cy="330000"/>
          </a:xfrm>
          <a:prstGeom prst="ellipse">
            <a:avLst/>
          </a:prstGeom>
          <a:solidFill>
            <a:srgbClr val="D98E24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Step number 2"/>
          <p:cNvSpPr/>
          <p:nvPr/>
        </p:nvSpPr>
        <p:spPr>
          <a:xfrm>
            <a:off x="4235800" y="1785000"/>
            <a:ext cx="33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23" name="Card title 2"/>
          <p:cNvSpPr/>
          <p:nvPr/>
        </p:nvSpPr>
        <p:spPr>
          <a:xfrm>
            <a:off x="4665800" y="1710000"/>
            <a:ext cx="222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 scoring</a:t>
            </a:r>
            <a:endParaRPr lang="en-US" dirty="0"/>
          </a:p>
        </p:txBody>
      </p:sp>
      <p:sp>
        <p:nvSpPr>
          <p:cNvPr id="24" name="Card body 2"/>
          <p:cNvSpPr/>
          <p:nvPr/>
        </p:nvSpPr>
        <p:spPr>
          <a:xfrm>
            <a:off x="4315800" y="2230000"/>
            <a:ext cx="248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tables keep plausible alternatives and sample or select under probability-like thresholds.</a:t>
            </a:r>
            <a:endParaRPr lang="en-US" dirty="0"/>
          </a:p>
        </p:txBody>
      </p:sp>
      <p:sp>
        <p:nvSpPr>
          <p:cNvPr id="51" name="Arrow"/>
          <p:cNvSpPr/>
          <p:nvPr/>
        </p:nvSpPr>
        <p:spPr>
          <a:xfrm>
            <a:off x="7125800" y="2450000"/>
            <a:ext cx="230000" cy="0"/>
          </a:xfrm>
          <a:prstGeom prst="line">
            <a:avLst/>
          </a:prstGeom>
          <a:noFill/>
          <a:ln w="25400">
            <a:solidFill>
              <a:srgbClr val="D98E2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 3"/>
          <p:cNvSpPr/>
          <p:nvPr/>
        </p:nvSpPr>
        <p:spPr>
          <a:xfrm>
            <a:off x="7425800" y="1540000"/>
            <a:ext cx="3000000" cy="185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Step 3"/>
          <p:cNvSpPr/>
          <p:nvPr/>
        </p:nvSpPr>
        <p:spPr>
          <a:xfrm>
            <a:off x="7605800" y="1730000"/>
            <a:ext cx="330000" cy="330000"/>
          </a:xfrm>
          <a:prstGeom prst="ellipse">
            <a:avLst/>
          </a:prstGeom>
          <a:solidFill>
            <a:srgbClr val="0F7C64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Step number 3"/>
          <p:cNvSpPr/>
          <p:nvPr/>
        </p:nvSpPr>
        <p:spPr>
          <a:xfrm>
            <a:off x="7605800" y="1785000"/>
            <a:ext cx="33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dirty="0"/>
          </a:p>
        </p:txBody>
      </p:sp>
      <p:sp>
        <p:nvSpPr>
          <p:cNvPr id="33" name="Card title 3"/>
          <p:cNvSpPr/>
          <p:nvPr/>
        </p:nvSpPr>
        <p:spPr>
          <a:xfrm>
            <a:off x="8035800" y="1710000"/>
            <a:ext cx="222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particle update</a:t>
            </a:r>
            <a:endParaRPr lang="en-US" dirty="0"/>
          </a:p>
        </p:txBody>
      </p:sp>
      <p:sp>
        <p:nvSpPr>
          <p:cNvPr id="34" name="Card body 3"/>
          <p:cNvSpPr/>
          <p:nvPr/>
        </p:nvSpPr>
        <p:spPr>
          <a:xfrm>
            <a:off x="7685800" y="2230000"/>
            <a:ext cx="2480000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pose/state is stamped back into the orientation model for reconstruction.</a:t>
            </a:r>
            <a:endParaRPr lang="en-US" dirty="0"/>
          </a:p>
        </p:txBody>
      </p:sp>
      <p:sp>
        <p:nvSpPr>
          <p:cNvPr id="70" name="Divider"/>
          <p:cNvSpPr/>
          <p:nvPr/>
        </p:nvSpPr>
        <p:spPr>
          <a:xfrm>
            <a:off x="685800" y="3970000"/>
            <a:ext cx="10800000" cy="0"/>
          </a:xfrm>
          <a:prstGeom prst="line">
            <a:avLst/>
          </a:prstGeom>
          <a:noFill/>
          <a:ln w="1270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Key point label"/>
          <p:cNvSpPr/>
          <p:nvPr/>
        </p:nvSpPr>
        <p:spPr>
          <a:xfrm>
            <a:off x="685800" y="4210000"/>
            <a:ext cx="15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4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</a:t>
            </a:r>
            <a:endParaRPr lang="en-US" dirty="0"/>
          </a:p>
        </p:txBody>
      </p:sp>
      <p:sp>
        <p:nvSpPr>
          <p:cNvPr id="72" name="Key point"/>
          <p:cNvSpPr/>
          <p:nvPr/>
        </p:nvSpPr>
        <p:spPr>
          <a:xfrm>
            <a:off x="685800" y="4520000"/>
            <a:ext cx="104000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hill-climber does not replace the probabilistic machinery. It narrows the search to credible trial orientations so the assignment step spends work where the particle already looks plausible.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594360" y="301752"/>
            <a:ext cx="520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SIMPLE WORKFLOW</a:t>
            </a:r>
            <a:endParaRPr lang="en-US" dirty="0"/>
          </a:p>
        </p:txBody>
      </p:sp>
      <p:sp>
        <p:nvSpPr>
          <p:cNvPr id="3" name="Slide title"/>
          <p:cNvSpPr/>
          <p:nvPr/>
        </p:nvSpPr>
        <p:spPr>
          <a:xfrm>
            <a:off x="594360" y="566928"/>
            <a:ext cx="9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trial orientations enter the pipeline</a:t>
            </a:r>
            <a:endParaRPr lang="en-US" dirty="0"/>
          </a:p>
        </p:txBody>
      </p:sp>
      <p:sp>
        <p:nvSpPr>
          <p:cNvPr id="10" name="Flow 1"/>
          <p:cNvSpPr/>
          <p:nvPr/>
        </p:nvSpPr>
        <p:spPr>
          <a:xfrm>
            <a:off x="520000" y="1690000"/>
            <a:ext cx="1760000" cy="100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Flow title 1"/>
          <p:cNvSpPr/>
          <p:nvPr/>
        </p:nvSpPr>
        <p:spPr>
          <a:xfrm>
            <a:off x="650000" y="1815000"/>
            <a:ext cx="1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85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references</a:t>
            </a:r>
            <a:endParaRPr lang="en-US" dirty="0"/>
          </a:p>
        </p:txBody>
      </p:sp>
      <p:sp>
        <p:nvSpPr>
          <p:cNvPr id="12" name="Flow body 1"/>
          <p:cNvSpPr/>
          <p:nvPr/>
        </p:nvSpPr>
        <p:spPr>
          <a:xfrm>
            <a:off x="650000" y="2165000"/>
            <a:ext cx="1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POLAR_REFS / PFTC sections</a:t>
            </a:r>
            <a:endParaRPr lang="en-US" dirty="0"/>
          </a:p>
        </p:txBody>
      </p:sp>
      <p:sp>
        <p:nvSpPr>
          <p:cNvPr id="13" name="Flow arrow"/>
          <p:cNvSpPr/>
          <p:nvPr/>
        </p:nvSpPr>
        <p:spPr>
          <a:xfrm>
            <a:off x="2305000" y="2190000"/>
            <a:ext cx="130000" cy="0"/>
          </a:xfrm>
          <a:prstGeom prst="line">
            <a:avLst/>
          </a:prstGeom>
          <a:noFill/>
          <a:ln w="19050">
            <a:solidFill>
              <a:srgbClr val="D9CDB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Flow 2"/>
          <p:cNvSpPr/>
          <p:nvPr/>
        </p:nvSpPr>
        <p:spPr>
          <a:xfrm>
            <a:off x="2460000" y="1690000"/>
            <a:ext cx="1760000" cy="100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Flow title 2"/>
          <p:cNvSpPr/>
          <p:nvPr/>
        </p:nvSpPr>
        <p:spPr>
          <a:xfrm>
            <a:off x="2590000" y="1815000"/>
            <a:ext cx="1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85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neighborhood</a:t>
            </a:r>
            <a:endParaRPr lang="en-US" dirty="0"/>
          </a:p>
        </p:txBody>
      </p:sp>
      <p:sp>
        <p:nvSpPr>
          <p:cNvPr id="17" name="Flow body 2"/>
          <p:cNvSpPr/>
          <p:nvPr/>
        </p:nvSpPr>
        <p:spPr>
          <a:xfrm>
            <a:off x="2590000" y="2165000"/>
            <a:ext cx="1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greedy, SHC, tree, prob_neigh</a:t>
            </a:r>
            <a:endParaRPr lang="en-US" dirty="0"/>
          </a:p>
        </p:txBody>
      </p:sp>
      <p:sp>
        <p:nvSpPr>
          <p:cNvPr id="18" name="Flow arrow"/>
          <p:cNvSpPr/>
          <p:nvPr/>
        </p:nvSpPr>
        <p:spPr>
          <a:xfrm>
            <a:off x="4245000" y="2190000"/>
            <a:ext cx="130000" cy="0"/>
          </a:xfrm>
          <a:prstGeom prst="line">
            <a:avLst/>
          </a:prstGeom>
          <a:noFill/>
          <a:ln w="19050">
            <a:solidFill>
              <a:srgbClr val="D9CDB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Flow 3"/>
          <p:cNvSpPr/>
          <p:nvPr/>
        </p:nvSpPr>
        <p:spPr>
          <a:xfrm>
            <a:off x="4400000" y="1690000"/>
            <a:ext cx="1760000" cy="100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Flow title 3"/>
          <p:cNvSpPr/>
          <p:nvPr/>
        </p:nvSpPr>
        <p:spPr>
          <a:xfrm>
            <a:off x="4530000" y="1815000"/>
            <a:ext cx="1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85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orientations</a:t>
            </a:r>
            <a:endParaRPr lang="en-US" dirty="0"/>
          </a:p>
        </p:txBody>
      </p:sp>
      <p:sp>
        <p:nvSpPr>
          <p:cNvPr id="22" name="Flow body 3"/>
          <p:cNvSpPr/>
          <p:nvPr/>
        </p:nvSpPr>
        <p:spPr>
          <a:xfrm>
            <a:off x="4530000" y="2165000"/>
            <a:ext cx="1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+ projection + in-plane + shift</a:t>
            </a:r>
            <a:endParaRPr lang="en-US" dirty="0"/>
          </a:p>
        </p:txBody>
      </p:sp>
      <p:sp>
        <p:nvSpPr>
          <p:cNvPr id="23" name="Flow arrow"/>
          <p:cNvSpPr/>
          <p:nvPr/>
        </p:nvSpPr>
        <p:spPr>
          <a:xfrm>
            <a:off x="6185000" y="2190000"/>
            <a:ext cx="130000" cy="0"/>
          </a:xfrm>
          <a:prstGeom prst="line">
            <a:avLst/>
          </a:prstGeom>
          <a:noFill/>
          <a:ln w="19050">
            <a:solidFill>
              <a:srgbClr val="D9CDB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Flow 4"/>
          <p:cNvSpPr/>
          <p:nvPr/>
        </p:nvSpPr>
        <p:spPr>
          <a:xfrm>
            <a:off x="6340000" y="1690000"/>
            <a:ext cx="1760000" cy="100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Flow title 4"/>
          <p:cNvSpPr/>
          <p:nvPr/>
        </p:nvSpPr>
        <p:spPr>
          <a:xfrm>
            <a:off x="6470000" y="1815000"/>
            <a:ext cx="1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table</a:t>
            </a:r>
            <a:endParaRPr lang="en-US" dirty="0"/>
          </a:p>
        </p:txBody>
      </p:sp>
      <p:sp>
        <p:nvSpPr>
          <p:cNvPr id="27" name="Flow body 4"/>
          <p:cNvSpPr/>
          <p:nvPr/>
        </p:nvSpPr>
        <p:spPr>
          <a:xfrm>
            <a:off x="6470000" y="2165000"/>
            <a:ext cx="1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score, threshold, sample</a:t>
            </a:r>
            <a:endParaRPr lang="en-US" dirty="0"/>
          </a:p>
        </p:txBody>
      </p:sp>
      <p:sp>
        <p:nvSpPr>
          <p:cNvPr id="28" name="Flow arrow"/>
          <p:cNvSpPr/>
          <p:nvPr/>
        </p:nvSpPr>
        <p:spPr>
          <a:xfrm>
            <a:off x="8125000" y="2190000"/>
            <a:ext cx="130000" cy="0"/>
          </a:xfrm>
          <a:prstGeom prst="line">
            <a:avLst/>
          </a:prstGeom>
          <a:noFill/>
          <a:ln w="19050">
            <a:solidFill>
              <a:srgbClr val="D9CDB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Flow 5"/>
          <p:cNvSpPr/>
          <p:nvPr/>
        </p:nvSpPr>
        <p:spPr>
          <a:xfrm>
            <a:off x="8280000" y="1690000"/>
            <a:ext cx="1760000" cy="100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Flow title 5"/>
          <p:cNvSpPr/>
          <p:nvPr/>
        </p:nvSpPr>
        <p:spPr>
          <a:xfrm>
            <a:off x="8410000" y="1815000"/>
            <a:ext cx="1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ASSIGNMENT.dat</a:t>
            </a:r>
            <a:endParaRPr lang="en-US" dirty="0"/>
          </a:p>
        </p:txBody>
      </p:sp>
      <p:sp>
        <p:nvSpPr>
          <p:cNvPr id="32" name="Flow body 5"/>
          <p:cNvSpPr/>
          <p:nvPr/>
        </p:nvSpPr>
        <p:spPr>
          <a:xfrm>
            <a:off x="8410000" y="2165000"/>
            <a:ext cx="1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selected candidate</a:t>
            </a:r>
            <a:endParaRPr lang="en-US" dirty="0"/>
          </a:p>
        </p:txBody>
      </p:sp>
      <p:sp>
        <p:nvSpPr>
          <p:cNvPr id="33" name="Flow arrow"/>
          <p:cNvSpPr/>
          <p:nvPr/>
        </p:nvSpPr>
        <p:spPr>
          <a:xfrm>
            <a:off x="10065000" y="2190000"/>
            <a:ext cx="130000" cy="0"/>
          </a:xfrm>
          <a:prstGeom prst="line">
            <a:avLst/>
          </a:prstGeom>
          <a:noFill/>
          <a:ln w="19050">
            <a:solidFill>
              <a:srgbClr val="D9CDBF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Flow 6"/>
          <p:cNvSpPr/>
          <p:nvPr/>
        </p:nvSpPr>
        <p:spPr>
          <a:xfrm>
            <a:off x="10220000" y="1690000"/>
            <a:ext cx="1760000" cy="100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Flow title 6"/>
          <p:cNvSpPr/>
          <p:nvPr/>
        </p:nvSpPr>
        <p:spPr>
          <a:xfrm>
            <a:off x="10350000" y="1815000"/>
            <a:ext cx="1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7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Matcher update</a:t>
            </a:r>
            <a:endParaRPr lang="en-US" dirty="0"/>
          </a:p>
        </p:txBody>
      </p:sp>
      <p:sp>
        <p:nvSpPr>
          <p:cNvPr id="37" name="Flow body 6"/>
          <p:cNvSpPr/>
          <p:nvPr/>
        </p:nvSpPr>
        <p:spPr>
          <a:xfrm>
            <a:off x="10350000" y="2165000"/>
            <a:ext cx="15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pose/state back</a:t>
            </a:r>
            <a:endParaRPr lang="en-US" dirty="0"/>
          </a:p>
        </p:txBody>
      </p:sp>
      <p:sp>
        <p:nvSpPr>
          <p:cNvPr id="80" name="Particle band"/>
          <p:cNvSpPr/>
          <p:nvPr/>
        </p:nvSpPr>
        <p:spPr>
          <a:xfrm>
            <a:off x="530000" y="3100000"/>
            <a:ext cx="10340000" cy="0"/>
          </a:xfrm>
          <a:prstGeom prst="line">
            <a:avLst/>
          </a:prstGeom>
          <a:noFill/>
          <a:ln w="25400">
            <a:solidFill>
              <a:srgbClr val="285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Particle label"/>
          <p:cNvSpPr/>
          <p:nvPr/>
        </p:nvSpPr>
        <p:spPr>
          <a:xfrm>
            <a:off x="530000" y="3200000"/>
            <a:ext cx="5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85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particle-domain search and assignment</a:t>
            </a:r>
            <a:endParaRPr lang="en-US" dirty="0"/>
          </a:p>
        </p:txBody>
      </p:sp>
      <p:sp>
        <p:nvSpPr>
          <p:cNvPr id="82" name="Volume box"/>
          <p:cNvSpPr/>
          <p:nvPr/>
        </p:nvSpPr>
        <p:spPr>
          <a:xfrm>
            <a:off x="7700000" y="3930000"/>
            <a:ext cx="3300000" cy="84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Volume title"/>
          <p:cNvSpPr/>
          <p:nvPr/>
        </p:nvSpPr>
        <p:spPr>
          <a:xfrm>
            <a:off x="7900000" y="4070000"/>
            <a:ext cx="2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7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assembly</a:t>
            </a:r>
            <a:endParaRPr lang="en-US" dirty="0"/>
          </a:p>
        </p:txBody>
      </p:sp>
      <p:sp>
        <p:nvSpPr>
          <p:cNvPr id="84" name="Volume body"/>
          <p:cNvSpPr/>
          <p:nvPr/>
        </p:nvSpPr>
        <p:spPr>
          <a:xfrm>
            <a:off x="7900000" y="4380000"/>
            <a:ext cx="29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partials -&gt; half maps -&gt; FSC -&gt; next reference</a:t>
            </a:r>
            <a:endParaRPr lang="en-US" dirty="0"/>
          </a:p>
        </p:txBody>
      </p:sp>
      <p:sp>
        <p:nvSpPr>
          <p:cNvPr id="85" name="Update arrow down"/>
          <p:cNvSpPr/>
          <p:nvPr/>
        </p:nvSpPr>
        <p:spPr>
          <a:xfrm>
            <a:off x="9650000" y="2690000"/>
            <a:ext cx="0" cy="1190000"/>
          </a:xfrm>
          <a:prstGeom prst="line">
            <a:avLst/>
          </a:prstGeom>
          <a:noFill/>
          <a:ln w="19050">
            <a:solidFill>
              <a:srgbClr val="0F7C64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Feedback arrow"/>
          <p:cNvSpPr/>
          <p:nvPr/>
        </p:nvSpPr>
        <p:spPr>
          <a:xfrm>
            <a:off x="2000000" y="4330000"/>
            <a:ext cx="5700000" cy="0"/>
          </a:xfrm>
          <a:prstGeom prst="line">
            <a:avLst/>
          </a:prstGeom>
          <a:noFill/>
          <a:ln w="19050">
            <a:solidFill>
              <a:srgbClr val="D9CDB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Feedback text"/>
          <p:cNvSpPr/>
          <p:nvPr/>
        </p:nvSpPr>
        <p:spPr>
          <a:xfrm>
            <a:off x="2100000" y="4520000"/>
            <a:ext cx="48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iteration repeats with references built from the current hard assignments.</a:t>
            </a:r>
            <a:endParaRPr lang="en-US" dirty="0"/>
          </a:p>
        </p:txBody>
      </p:sp>
      <p:sp>
        <p:nvSpPr>
          <p:cNvPr id="88" name="Bottom note"/>
          <p:cNvSpPr/>
          <p:nvPr/>
        </p:nvSpPr>
        <p:spPr>
          <a:xfrm>
            <a:off x="685800" y="5740000"/>
            <a:ext cx="10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the probabilistic step belongs beside matching: it updates particle poses; volume-domain work happens after assignment.</a:t>
            </a:r>
            <a:endParaRPr lang="en-US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594360" y="301752"/>
            <a:ext cx="520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MODE MAP</a:t>
            </a:r>
            <a:endParaRPr lang="en-US" dirty="0"/>
          </a:p>
        </p:txBody>
      </p:sp>
      <p:sp>
        <p:nvSpPr>
          <p:cNvPr id="3" name="Slide title"/>
          <p:cNvSpPr/>
          <p:nvPr/>
        </p:nvSpPr>
        <p:spPr>
          <a:xfrm>
            <a:off x="594360" y="566928"/>
            <a:ext cx="9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search modes relate to hill climbing</a:t>
            </a:r>
            <a:endParaRPr lang="en-US" dirty="0"/>
          </a:p>
        </p:txBody>
      </p:sp>
      <p:sp>
        <p:nvSpPr>
          <p:cNvPr id="10" name="Header cell"/>
          <p:cNvSpPr/>
          <p:nvPr/>
        </p:nvSpPr>
        <p:spPr>
          <a:xfrm>
            <a:off x="685800" y="1390000"/>
            <a:ext cx="1900000" cy="720000"/>
          </a:xfrm>
          <a:prstGeom prst="rect">
            <a:avLst/>
          </a:prstGeom>
          <a:solidFill>
            <a:srgbClr val="1F2933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Header text"/>
          <p:cNvSpPr/>
          <p:nvPr/>
        </p:nvSpPr>
        <p:spPr>
          <a:xfrm>
            <a:off x="805800" y="1570000"/>
            <a:ext cx="166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family</a:t>
            </a:r>
            <a:endParaRPr lang="en-US" dirty="0"/>
          </a:p>
        </p:txBody>
      </p:sp>
      <p:sp>
        <p:nvSpPr>
          <p:cNvPr id="11" name="Header cell"/>
          <p:cNvSpPr/>
          <p:nvPr/>
        </p:nvSpPr>
        <p:spPr>
          <a:xfrm>
            <a:off x="2585800" y="1390000"/>
            <a:ext cx="4000000" cy="72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Header text"/>
          <p:cNvSpPr/>
          <p:nvPr/>
        </p:nvSpPr>
        <p:spPr>
          <a:xfrm>
            <a:off x="2705800" y="1570000"/>
            <a:ext cx="376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Sampler role</a:t>
            </a:r>
            <a:endParaRPr lang="en-US" dirty="0"/>
          </a:p>
        </p:txBody>
      </p:sp>
      <p:sp>
        <p:nvSpPr>
          <p:cNvPr id="12" name="Header cell"/>
          <p:cNvSpPr/>
          <p:nvPr/>
        </p:nvSpPr>
        <p:spPr>
          <a:xfrm>
            <a:off x="6585800" y="1390000"/>
            <a:ext cx="4700000" cy="72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D9CDB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Header text"/>
          <p:cNvSpPr/>
          <p:nvPr/>
        </p:nvSpPr>
        <p:spPr>
          <a:xfrm>
            <a:off x="6705800" y="1570000"/>
            <a:ext cx="446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finally updates</a:t>
            </a:r>
            <a:endParaRPr lang="en-US" dirty="0"/>
          </a:p>
        </p:txBody>
      </p:sp>
      <p:sp>
        <p:nvSpPr>
          <p:cNvPr id="50" name="Row line"/>
          <p:cNvSpPr/>
          <p:nvPr/>
        </p:nvSpPr>
        <p:spPr>
          <a:xfrm>
            <a:off x="685800" y="2110000"/>
            <a:ext cx="19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Cell text"/>
          <p:cNvSpPr/>
          <p:nvPr/>
        </p:nvSpPr>
        <p:spPr>
          <a:xfrm>
            <a:off x="805800" y="2225000"/>
            <a:ext cx="16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/ SHC</a:t>
            </a:r>
            <a:endParaRPr lang="en-US" dirty="0"/>
          </a:p>
        </p:txBody>
      </p:sp>
      <p:sp>
        <p:nvSpPr>
          <p:cNvPr id="51" name="Row line"/>
          <p:cNvSpPr/>
          <p:nvPr/>
        </p:nvSpPr>
        <p:spPr>
          <a:xfrm>
            <a:off x="2585800" y="2110000"/>
            <a:ext cx="40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Cell text"/>
          <p:cNvSpPr/>
          <p:nvPr/>
        </p:nvSpPr>
        <p:spPr>
          <a:xfrm>
            <a:off x="2705800" y="2225000"/>
            <a:ext cx="37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Hill-climbing explores local candidates; stochastic variants sample instead of exhaustively scanning.</a:t>
            </a:r>
            <a:endParaRPr lang="en-US" dirty="0"/>
          </a:p>
        </p:txBody>
      </p:sp>
      <p:sp>
        <p:nvSpPr>
          <p:cNvPr id="52" name="Row line"/>
          <p:cNvSpPr/>
          <p:nvPr/>
        </p:nvSpPr>
        <p:spPr>
          <a:xfrm>
            <a:off x="6585800" y="2110000"/>
            <a:ext cx="47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Cell text"/>
          <p:cNvSpPr/>
          <p:nvPr/>
        </p:nvSpPr>
        <p:spPr>
          <a:xfrm>
            <a:off x="6705800" y="2225000"/>
            <a:ext cx="44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best or sampled improving pose becomes the candidate to keep.</a:t>
            </a:r>
            <a:endParaRPr lang="en-US" dirty="0"/>
          </a:p>
        </p:txBody>
      </p:sp>
      <p:sp>
        <p:nvSpPr>
          <p:cNvPr id="54" name="Row line"/>
          <p:cNvSpPr/>
          <p:nvPr/>
        </p:nvSpPr>
        <p:spPr>
          <a:xfrm>
            <a:off x="685800" y="2830000"/>
            <a:ext cx="19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Cell text"/>
          <p:cNvSpPr/>
          <p:nvPr/>
        </p:nvSpPr>
        <p:spPr>
          <a:xfrm>
            <a:off x="805800" y="2945000"/>
            <a:ext cx="16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</a:t>
            </a:r>
            <a:endParaRPr lang="en-US" dirty="0"/>
          </a:p>
        </p:txBody>
      </p:sp>
      <p:sp>
        <p:nvSpPr>
          <p:cNvPr id="55" name="Row line"/>
          <p:cNvSpPr/>
          <p:nvPr/>
        </p:nvSpPr>
        <p:spPr>
          <a:xfrm>
            <a:off x="2585800" y="2830000"/>
            <a:ext cx="40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Cell text"/>
          <p:cNvSpPr/>
          <p:nvPr/>
        </p:nvSpPr>
        <p:spPr>
          <a:xfrm>
            <a:off x="2705800" y="2945000"/>
            <a:ext cx="37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Builds probability tables over state, projection, in-plane angle, and optional shift.</a:t>
            </a:r>
            <a:endParaRPr lang="en-US" dirty="0"/>
          </a:p>
        </p:txBody>
      </p:sp>
      <p:sp>
        <p:nvSpPr>
          <p:cNvPr id="56" name="Row line"/>
          <p:cNvSpPr/>
          <p:nvPr/>
        </p:nvSpPr>
        <p:spPr>
          <a:xfrm>
            <a:off x="6585800" y="2830000"/>
            <a:ext cx="47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Cell text"/>
          <p:cNvSpPr/>
          <p:nvPr/>
        </p:nvSpPr>
        <p:spPr>
          <a:xfrm>
            <a:off x="6705800" y="2945000"/>
            <a:ext cx="44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Aggregated table is converted into a single assignment map.</a:t>
            </a:r>
            <a:endParaRPr lang="en-US" dirty="0"/>
          </a:p>
        </p:txBody>
      </p:sp>
      <p:sp>
        <p:nvSpPr>
          <p:cNvPr id="58" name="Row line"/>
          <p:cNvSpPr/>
          <p:nvPr/>
        </p:nvSpPr>
        <p:spPr>
          <a:xfrm>
            <a:off x="685800" y="3550000"/>
            <a:ext cx="19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Cell text"/>
          <p:cNvSpPr/>
          <p:nvPr/>
        </p:nvSpPr>
        <p:spPr>
          <a:xfrm>
            <a:off x="805800" y="3665000"/>
            <a:ext cx="16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prob_neigh</a:t>
            </a:r>
            <a:endParaRPr lang="en-US" dirty="0"/>
          </a:p>
        </p:txBody>
      </p:sp>
      <p:sp>
        <p:nvSpPr>
          <p:cNvPr id="59" name="Row line"/>
          <p:cNvSpPr/>
          <p:nvPr/>
        </p:nvSpPr>
        <p:spPr>
          <a:xfrm>
            <a:off x="2585800" y="3550000"/>
            <a:ext cx="40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Cell text"/>
          <p:cNvSpPr/>
          <p:nvPr/>
        </p:nvSpPr>
        <p:spPr>
          <a:xfrm>
            <a:off x="2705800" y="3665000"/>
            <a:ext cx="37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sparse neighborhood first, then evaluates candidates inside that restricted subspace.</a:t>
            </a:r>
            <a:endParaRPr lang="en-US" dirty="0"/>
          </a:p>
        </p:txBody>
      </p:sp>
      <p:sp>
        <p:nvSpPr>
          <p:cNvPr id="60" name="Row line"/>
          <p:cNvSpPr/>
          <p:nvPr/>
        </p:nvSpPr>
        <p:spPr>
          <a:xfrm>
            <a:off x="6585800" y="3550000"/>
            <a:ext cx="47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Cell text"/>
          <p:cNvSpPr/>
          <p:nvPr/>
        </p:nvSpPr>
        <p:spPr>
          <a:xfrm>
            <a:off x="6705800" y="3665000"/>
            <a:ext cx="44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hard pose/state update, with fewer candidate evaluations.</a:t>
            </a:r>
            <a:endParaRPr lang="en-US" dirty="0"/>
          </a:p>
        </p:txBody>
      </p:sp>
      <p:sp>
        <p:nvSpPr>
          <p:cNvPr id="62" name="Row line"/>
          <p:cNvSpPr/>
          <p:nvPr/>
        </p:nvSpPr>
        <p:spPr>
          <a:xfrm>
            <a:off x="685800" y="4270000"/>
            <a:ext cx="19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Cell text"/>
          <p:cNvSpPr/>
          <p:nvPr/>
        </p:nvSpPr>
        <p:spPr>
          <a:xfrm>
            <a:off x="805800" y="4385000"/>
            <a:ext cx="16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prob_state</a:t>
            </a:r>
            <a:endParaRPr lang="en-US" dirty="0"/>
          </a:p>
        </p:txBody>
      </p:sp>
      <p:sp>
        <p:nvSpPr>
          <p:cNvPr id="63" name="Row line"/>
          <p:cNvSpPr/>
          <p:nvPr/>
        </p:nvSpPr>
        <p:spPr>
          <a:xfrm>
            <a:off x="2585800" y="4270000"/>
            <a:ext cx="40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Cell text"/>
          <p:cNvSpPr/>
          <p:nvPr/>
        </p:nvSpPr>
        <p:spPr>
          <a:xfrm>
            <a:off x="2705800" y="4385000"/>
            <a:ext cx="37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pose search narrow and asks the table mainly to resolve state.</a:t>
            </a:r>
            <a:endParaRPr lang="en-US" dirty="0"/>
          </a:p>
        </p:txBody>
      </p:sp>
      <p:sp>
        <p:nvSpPr>
          <p:cNvPr id="64" name="Row line"/>
          <p:cNvSpPr/>
          <p:nvPr/>
        </p:nvSpPr>
        <p:spPr>
          <a:xfrm>
            <a:off x="6585800" y="4270000"/>
            <a:ext cx="47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Cell text"/>
          <p:cNvSpPr/>
          <p:nvPr/>
        </p:nvSpPr>
        <p:spPr>
          <a:xfrm>
            <a:off x="6705800" y="4385000"/>
            <a:ext cx="44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assignment changes; orientation can remain anchored by the current pose.</a:t>
            </a:r>
            <a:endParaRPr lang="en-US" dirty="0"/>
          </a:p>
        </p:txBody>
      </p:sp>
      <p:sp>
        <p:nvSpPr>
          <p:cNvPr id="66" name="Row line"/>
          <p:cNvSpPr/>
          <p:nvPr/>
        </p:nvSpPr>
        <p:spPr>
          <a:xfrm>
            <a:off x="685800" y="4990000"/>
            <a:ext cx="19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Cell text"/>
          <p:cNvSpPr/>
          <p:nvPr/>
        </p:nvSpPr>
        <p:spPr>
          <a:xfrm>
            <a:off x="805800" y="5105000"/>
            <a:ext cx="16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variants</a:t>
            </a:r>
            <a:endParaRPr lang="en-US" dirty="0"/>
          </a:p>
        </p:txBody>
      </p:sp>
      <p:sp>
        <p:nvSpPr>
          <p:cNvPr id="67" name="Row line"/>
          <p:cNvSpPr/>
          <p:nvPr/>
        </p:nvSpPr>
        <p:spPr>
          <a:xfrm>
            <a:off x="2585800" y="4990000"/>
            <a:ext cx="40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Cell text"/>
          <p:cNvSpPr/>
          <p:nvPr/>
        </p:nvSpPr>
        <p:spPr>
          <a:xfrm>
            <a:off x="2705800" y="5105000"/>
            <a:ext cx="37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structured descent so sampling follows promising branches rather than a flat neighborhood.</a:t>
            </a:r>
            <a:endParaRPr lang="en-US" dirty="0"/>
          </a:p>
        </p:txBody>
      </p:sp>
      <p:sp>
        <p:nvSpPr>
          <p:cNvPr id="68" name="Row line"/>
          <p:cNvSpPr/>
          <p:nvPr/>
        </p:nvSpPr>
        <p:spPr>
          <a:xfrm>
            <a:off x="6585800" y="4990000"/>
            <a:ext cx="47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Cell text"/>
          <p:cNvSpPr/>
          <p:nvPr/>
        </p:nvSpPr>
        <p:spPr>
          <a:xfrm>
            <a:off x="6705800" y="5105000"/>
            <a:ext cx="446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 choices guide descent, but stored particle state is still discrete.</a:t>
            </a:r>
            <a:endParaRPr lang="en-US" dirty="0"/>
          </a:p>
        </p:txBody>
      </p:sp>
      <p:sp>
        <p:nvSpPr>
          <p:cNvPr id="120" name="V1"/>
          <p:cNvSpPr/>
          <p:nvPr/>
        </p:nvSpPr>
        <p:spPr>
          <a:xfrm>
            <a:off x="2585800" y="1390000"/>
            <a:ext cx="0" cy="432000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V2"/>
          <p:cNvSpPr/>
          <p:nvPr/>
        </p:nvSpPr>
        <p:spPr>
          <a:xfrm>
            <a:off x="6585800" y="1390000"/>
            <a:ext cx="0" cy="432000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Bottom line"/>
          <p:cNvSpPr/>
          <p:nvPr/>
        </p:nvSpPr>
        <p:spPr>
          <a:xfrm>
            <a:off x="685800" y="5710000"/>
            <a:ext cx="10600000" cy="0"/>
          </a:xfrm>
          <a:prstGeom prst="line">
            <a:avLst/>
          </a:prstGeom>
          <a:noFill/>
          <a:ln w="635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akeaway"/>
          <p:cNvSpPr/>
          <p:nvPr/>
        </p:nvSpPr>
        <p:spPr>
          <a:xfrm>
            <a:off x="685800" y="5840000"/>
            <a:ext cx="107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differences mainly change how candidates are generated and pruned. The durable orientation model receives one selected assignment per particle.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594360" y="301752"/>
            <a:ext cx="520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SPEAKER MENTAL MODEL</a:t>
            </a:r>
            <a:endParaRPr lang="en-US" dirty="0"/>
          </a:p>
        </p:txBody>
      </p:sp>
      <p:sp>
        <p:nvSpPr>
          <p:cNvPr id="3" name="Slide title"/>
          <p:cNvSpPr/>
          <p:nvPr/>
        </p:nvSpPr>
        <p:spPr>
          <a:xfrm>
            <a:off x="594360" y="566928"/>
            <a:ext cx="93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Say it precisely</a:t>
            </a:r>
            <a:endParaRPr lang="en-US" dirty="0"/>
          </a:p>
        </p:txBody>
      </p:sp>
      <p:sp>
        <p:nvSpPr>
          <p:cNvPr id="10" name="Sentence number"/>
          <p:cNvSpPr/>
          <p:nvPr/>
        </p:nvSpPr>
        <p:spPr>
          <a:xfrm>
            <a:off x="760000" y="1595000"/>
            <a:ext cx="300000" cy="300000"/>
          </a:xfrm>
          <a:prstGeom prst="ellipse">
            <a:avLst/>
          </a:prstGeom>
          <a:solidFill>
            <a:srgbClr val="285A9F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Number text"/>
          <p:cNvSpPr/>
          <p:nvPr/>
        </p:nvSpPr>
        <p:spPr>
          <a:xfrm>
            <a:off x="760000" y="1650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dirty="0"/>
          </a:p>
        </p:txBody>
      </p:sp>
      <p:sp>
        <p:nvSpPr>
          <p:cNvPr id="12" name="Sentence head"/>
          <p:cNvSpPr/>
          <p:nvPr/>
        </p:nvSpPr>
        <p:spPr>
          <a:xfrm>
            <a:off x="1200000" y="1500000"/>
            <a:ext cx="3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85A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search proposes</a:t>
            </a:r>
            <a:endParaRPr lang="en-US" dirty="0"/>
          </a:p>
        </p:txBody>
      </p:sp>
      <p:sp>
        <p:nvSpPr>
          <p:cNvPr id="13" name="Sentence body"/>
          <p:cNvSpPr/>
          <p:nvPr/>
        </p:nvSpPr>
        <p:spPr>
          <a:xfrm>
            <a:off x="1200000" y="1810000"/>
            <a:ext cx="57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Hill-climbers walk the orientation landscape and return a small set of plausible trials.</a:t>
            </a:r>
            <a:endParaRPr lang="en-US" dirty="0"/>
          </a:p>
        </p:txBody>
      </p:sp>
      <p:sp>
        <p:nvSpPr>
          <p:cNvPr id="15" name="Sentence number"/>
          <p:cNvSpPr/>
          <p:nvPr/>
        </p:nvSpPr>
        <p:spPr>
          <a:xfrm>
            <a:off x="760000" y="2505000"/>
            <a:ext cx="300000" cy="300000"/>
          </a:xfrm>
          <a:prstGeom prst="ellipse">
            <a:avLst/>
          </a:prstGeom>
          <a:solidFill>
            <a:srgbClr val="D98E24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Number text"/>
          <p:cNvSpPr/>
          <p:nvPr/>
        </p:nvSpPr>
        <p:spPr>
          <a:xfrm>
            <a:off x="760000" y="2560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dirty="0"/>
          </a:p>
        </p:txBody>
      </p:sp>
      <p:sp>
        <p:nvSpPr>
          <p:cNvPr id="17" name="Sentence head"/>
          <p:cNvSpPr/>
          <p:nvPr/>
        </p:nvSpPr>
        <p:spPr>
          <a:xfrm>
            <a:off x="1200000" y="2410000"/>
            <a:ext cx="3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98E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 arbitrate</a:t>
            </a:r>
            <a:endParaRPr lang="en-US" dirty="0"/>
          </a:p>
        </p:txBody>
      </p:sp>
      <p:sp>
        <p:nvSpPr>
          <p:cNvPr id="18" name="Sentence body"/>
          <p:cNvSpPr/>
          <p:nvPr/>
        </p:nvSpPr>
        <p:spPr>
          <a:xfrm>
            <a:off x="1200000" y="2720000"/>
            <a:ext cx="57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probabilistic machinery scores, thresholds, and samples candidates in the prepared reference model.</a:t>
            </a:r>
            <a:endParaRPr lang="en-US" dirty="0"/>
          </a:p>
        </p:txBody>
      </p:sp>
      <p:sp>
        <p:nvSpPr>
          <p:cNvPr id="20" name="Sentence number"/>
          <p:cNvSpPr/>
          <p:nvPr/>
        </p:nvSpPr>
        <p:spPr>
          <a:xfrm>
            <a:off x="760000" y="3415000"/>
            <a:ext cx="300000" cy="300000"/>
          </a:xfrm>
          <a:prstGeom prst="ellipse">
            <a:avLst/>
          </a:prstGeom>
          <a:solidFill>
            <a:srgbClr val="0F7C64"/>
          </a:solidFill>
          <a:ln w="63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Number text"/>
          <p:cNvSpPr/>
          <p:nvPr/>
        </p:nvSpPr>
        <p:spPr>
          <a:xfrm>
            <a:off x="760000" y="3470000"/>
            <a:ext cx="300000" cy="1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dirty="0"/>
          </a:p>
        </p:txBody>
      </p:sp>
      <p:sp>
        <p:nvSpPr>
          <p:cNvPr id="22" name="Sentence head"/>
          <p:cNvSpPr/>
          <p:nvPr/>
        </p:nvSpPr>
        <p:spPr>
          <a:xfrm>
            <a:off x="1200000" y="3320000"/>
            <a:ext cx="3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7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stores a hard choice</a:t>
            </a:r>
            <a:endParaRPr lang="en-US" dirty="0"/>
          </a:p>
        </p:txBody>
      </p:sp>
      <p:sp>
        <p:nvSpPr>
          <p:cNvPr id="23" name="Sentence body"/>
          <p:cNvSpPr/>
          <p:nvPr/>
        </p:nvSpPr>
        <p:spPr>
          <a:xfrm>
            <a:off x="1200000" y="3630000"/>
            <a:ext cx="57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selected state, projection, in-plane angle, and shift become the particle assignment for reconstruction.</a:t>
            </a:r>
            <a:endParaRPr lang="en-US" dirty="0"/>
          </a:p>
        </p:txBody>
      </p:sp>
      <p:sp>
        <p:nvSpPr>
          <p:cNvPr id="70" name="Say panel"/>
          <p:cNvSpPr/>
          <p:nvPr/>
        </p:nvSpPr>
        <p:spPr>
          <a:xfrm>
            <a:off x="7600000" y="1530000"/>
            <a:ext cx="3500000" cy="122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0F7C6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Say label"/>
          <p:cNvSpPr/>
          <p:nvPr/>
        </p:nvSpPr>
        <p:spPr>
          <a:xfrm>
            <a:off x="7850000" y="1700000"/>
            <a:ext cx="3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7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</a:t>
            </a:r>
            <a:endParaRPr lang="en-US" dirty="0"/>
          </a:p>
        </p:txBody>
      </p:sp>
      <p:sp>
        <p:nvSpPr>
          <p:cNvPr id="72" name="Say body"/>
          <p:cNvSpPr/>
          <p:nvPr/>
        </p:nvSpPr>
        <p:spPr>
          <a:xfrm>
            <a:off x="7850000" y="2020000"/>
            <a:ext cx="3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 pre-alignment plus hard-assignment particle update</a:t>
            </a:r>
            <a:endParaRPr lang="en-US" dirty="0"/>
          </a:p>
        </p:txBody>
      </p:sp>
      <p:sp>
        <p:nvSpPr>
          <p:cNvPr id="73" name="Avoid panel"/>
          <p:cNvSpPr/>
          <p:nvPr/>
        </p:nvSpPr>
        <p:spPr>
          <a:xfrm>
            <a:off x="7600000" y="3220000"/>
            <a:ext cx="3500000" cy="1220000"/>
          </a:xfrm>
          <a:prstGeom prst="rect">
            <a:avLst/>
          </a:prstGeom>
          <a:solidFill>
            <a:srgbClr val="F3EFE6"/>
          </a:solidFill>
          <a:ln w="12700">
            <a:solidFill>
              <a:srgbClr val="C441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Avoid label"/>
          <p:cNvSpPr/>
          <p:nvPr/>
        </p:nvSpPr>
        <p:spPr>
          <a:xfrm>
            <a:off x="7850000" y="3390000"/>
            <a:ext cx="30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44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</a:t>
            </a:r>
            <a:endParaRPr lang="en-US" dirty="0"/>
          </a:p>
        </p:txBody>
      </p:sp>
      <p:sp>
        <p:nvSpPr>
          <p:cNvPr id="75" name="Avoid body"/>
          <p:cNvSpPr/>
          <p:nvPr/>
        </p:nvSpPr>
        <p:spPr>
          <a:xfrm>
            <a:off x="7850000" y="3710000"/>
            <a:ext cx="3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soft EM, or every orientation contributing to the next volume</a:t>
            </a:r>
            <a:endParaRPr lang="en-US" dirty="0"/>
          </a:p>
        </p:txBody>
      </p:sp>
      <p:sp>
        <p:nvSpPr>
          <p:cNvPr id="90" name="Final divider"/>
          <p:cNvSpPr/>
          <p:nvPr/>
        </p:nvSpPr>
        <p:spPr>
          <a:xfrm>
            <a:off x="685800" y="5120000"/>
            <a:ext cx="10800000" cy="0"/>
          </a:xfrm>
          <a:prstGeom prst="line">
            <a:avLst/>
          </a:prstGeom>
          <a:noFill/>
          <a:ln w="12700">
            <a:solidFill>
              <a:srgbClr val="D9CD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Final line"/>
          <p:cNvSpPr/>
          <p:nvPr/>
        </p:nvSpPr>
        <p:spPr>
          <a:xfrm>
            <a:off x="850000" y="5350000"/>
            <a:ext cx="104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shorthand: the hill-climber is the proposal distribution; the assignment machinery is the decision layer.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28232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650">
                <a:solidFill>
                  <a:srgbClr val="8D7B6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1138</Words>
  <Application>Microsoft Macintosh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Hill-Climbing Optimization Algorithms</dc:title>
  <dc:subject>Hill climbing optimization algorithms</dc:subject>
  <dc:creator>OpenAI</dc:creator>
  <cp:lastModifiedBy>Elmlund, Hans (NIH/NCI) [E]</cp:lastModifiedBy>
  <cp:revision>1</cp:revision>
  <dcterms:created xsi:type="dcterms:W3CDTF">2026-06-28T13:34:33Z</dcterms:created>
  <dcterms:modified xsi:type="dcterms:W3CDTF">2026-06-28T14:45:26Z</dcterms:modified>
</cp:coreProperties>
</file>